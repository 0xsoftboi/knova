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req/sec</c:v>
                </c:pt>
              </c:strCache>
            </c:strRef>
          </c:tx>
          <c:spPr>
            <a:solidFill>
              <a:srgbClr val="3FB9A0"/>
            </a:solidFill>
            <a:effectLst/>
          </c:spPr>
          <c:invertIfNegative val="0"/>
          <c:dLbls>
            <c:numFmt formatCode="#,##0" sourceLinked="0"/>
            <c:txPr>
              <a:bodyPr/>
              <a:lstStyle/>
              <a:p>
                <a:pPr>
                  <a:defRPr b="0" i="0" strike="noStrike" sz="1100" u="none">
                    <a:solidFill>
                      <a:srgbClr val="E9EDF2"/>
                    </a:solidFill>
                    <a:latin typeface="Courier New"/>
                  </a:defRPr>
                </a:pPr>
              </a:p>
            </c:txPr>
            <c:showLegendKey val="0"/>
            <c:showVal val="1"/>
            <c:showCatName val="0"/>
            <c:showSerName val="0"/>
            <c:showPercent val="0"/>
            <c:showBubbleSize val="0"/>
            <c:showLeaderLines val="0"/>
          </c:dLbls>
          <c:dPt>
            <c:idx val="0"/>
            <c:invertIfNegative val="0"/>
            <c:bubble3D val="0"/>
            <c:spPr>
              <a:solidFill>
                <a:srgbClr val="3FB9A0"/>
              </a:solidFill>
              <a:effectLst/>
            </c:spPr>
          </c:dPt>
          <c:dPt>
            <c:idx val="1"/>
            <c:invertIfNegative val="0"/>
            <c:bubble3D val="0"/>
            <c:spPr>
              <a:solidFill>
                <a:srgbClr val="E86A33"/>
              </a:solidFill>
              <a:effectLst/>
            </c:spPr>
          </c:dPt>
          <c:cat>
            <c:multiLvlStrRef>
              <c:f>Sheet1!$A$2:$A$3</c:f>
              <c:multiLvlStrCache>
                <c:ptCount val="2"/>
                <c:lvl>
                  <c:pt idx="0">
                    <c:v>direct to profile</c:v>
                  </c:pt>
                  <c:pt idx="1">
                    <c:v>through the gateway</c:v>
                  </c:pt>
                </c:lvl>
              </c:multiLvlStrCache>
            </c:multiLvlStrRef>
          </c:cat>
          <c:val>
            <c:numRef>
              <c:f>Sheet1!$B$2:$B$3</c:f>
              <c:numCache>
                <c:formatCode>General</c:formatCode>
                <c:ptCount val="2"/>
                <c:pt idx="0">
                  <c:v>64158</c:v>
                </c:pt>
                <c:pt idx="1">
                  <c:v>25414</c:v>
                </c:pt>
              </c:numCache>
            </c:numRef>
          </c:val>
        </c:ser>
        <c:dLbls>
          <c:numFmt formatCode="#,##0" sourceLinked="0"/>
          <c:txPr>
            <a:bodyPr/>
            <a:lstStyle/>
            <a:p>
              <a:pPr>
                <a:defRPr b="0" i="0" strike="noStrike" sz="1100" u="none">
                  <a:solidFill>
                    <a:srgbClr val="E9EDF2"/>
                  </a:solidFill>
                  <a:latin typeface="Courier New"/>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8B98A8"/>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900" b="0" i="0" u="none" strike="noStrike">
                <a:solidFill>
                  <a:srgbClr val="8B98A8"/>
                </a:solidFill>
                <a:latin typeface="Arial"/>
              </a:defRPr>
            </a:pPr>
            <a:endParaRPr lang="en-US"/>
          </a:p>
        </c:txPr>
        <c:crossAx val="2094734554"/>
        <c:crosses val="autoZero"/>
        <c:crossBetween val="between"/>
      </c:valAx>
      <c:spPr>
        <a:solidFill>
          <a:srgbClr val="0E1116"/>
        </a:solidFill>
        <a:ln>
          <a:noFill/>
        </a:ln>
        <a:effectLst/>
      </c:spPr>
    </c:plotArea>
    <c:plotVisOnly val="1"/>
    <c:dispBlanksAs val="span"/>
  </c:chart>
  <c:spPr>
    <a:solidFill>
      <a:srgbClr val="0E1116"/>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the deliverable is small; the judgement is what is being tested. Two questions — which concurrency hazard actually matters, and whether you know timing is half of enumeration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place verifies tokens. The profile service trusts a constant-time-checked internal secret and an injected user id, and refuses anything that arrives without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third needs a design decision. The first is the compiler’s, the second is any lock. The third spans two requests, so no lock can hold across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Mandatory, not optional — an unconditional PUT is refused with 428 rather than quietly allowed. Making it optional would be friendlier and would reintroduce exactly the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trait exists because per-process versioning is the design’s real limit. Both backends pass one suite, and the mutation fails symmetrically in both — that is what makes the abstraction real rather than decorative.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version of a performance story: I tuned what was easy to measure, then measured the real system and found the hop dominated. The largest single win was undoing my own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Equal status and equal body is the half everyone does. The timing half is where the oracle actually lives — including the lockout path, which is the one people forget.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is the expensive one because it is mine, not the model’s. A test that passes on broken code is worse than no test — it buys false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division is not by difficulty, it is by what goes silently wrong. Anything where a wrong answer still looks green stays human.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on the known limits rather than a summary. The caveat is deliberate — the scope overran the timebox and the reason is a design limit worth naming.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E1116"/>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02920" y="548640"/>
            <a:ext cx="420624" cy="420624"/>
          </a:xfrm>
          <a:prstGeom prst="ellipse">
            <a:avLst/>
          </a:prstGeom>
          <a:solidFill>
            <a:srgbClr val="E86A33"/>
          </a:solidFill>
          <a:ln/>
        </p:spPr>
      </p:sp>
      <p:sp>
        <p:nvSpPr>
          <p:cNvPr id="3" name="Text 1"/>
          <p:cNvSpPr/>
          <p:nvPr/>
        </p:nvSpPr>
        <p:spPr>
          <a:xfrm>
            <a:off x="502920" y="548640"/>
            <a:ext cx="420624" cy="420624"/>
          </a:xfrm>
          <a:prstGeom prst="rect">
            <a:avLst/>
          </a:prstGeom>
          <a:noFill/>
          <a:ln/>
        </p:spPr>
        <p:txBody>
          <a:bodyPr wrap="square" lIns="0" tIns="0" rIns="0" bIns="0" rtlCol="0" anchor="ctr"/>
          <a:lstStyle/>
          <a:p>
            <a:pPr algn="ctr" indent="0" marL="0">
              <a:buNone/>
            </a:pPr>
            <a:r>
              <a:rPr lang="en-US" sz="1400" b="1" dirty="0">
                <a:solidFill>
                  <a:srgbClr val="0E1116"/>
                </a:solidFill>
                <a:latin typeface="Calibri" pitchFamily="34" charset="0"/>
                <a:ea typeface="Calibri" pitchFamily="34" charset="-122"/>
                <a:cs typeface="Calibri" pitchFamily="34" charset="-120"/>
              </a:rPr>
              <a:t>K</a:t>
            </a:r>
            <a:endParaRPr lang="en-US" sz="1400" dirty="0"/>
          </a:p>
        </p:txBody>
      </p:sp>
      <p:sp>
        <p:nvSpPr>
          <p:cNvPr id="4" name="Text 2"/>
          <p:cNvSpPr/>
          <p:nvPr/>
        </p:nvSpPr>
        <p:spPr>
          <a:xfrm>
            <a:off x="1106424" y="548640"/>
            <a:ext cx="8229600" cy="420624"/>
          </a:xfrm>
          <a:prstGeom prst="rect">
            <a:avLst/>
          </a:prstGeom>
          <a:noFill/>
          <a:ln/>
        </p:spPr>
        <p:txBody>
          <a:bodyPr wrap="square" lIns="0" tIns="0" rIns="0" bIns="0" rtlCol="0" anchor="ctr"/>
          <a:lstStyle/>
          <a:p>
            <a:pPr indent="0" marL="0">
              <a:buNone/>
            </a:pPr>
            <a:r>
              <a:rPr lang="en-US" sz="1100" spc="240" kern="0" dirty="0">
                <a:solidFill>
                  <a:srgbClr val="8B98A8"/>
                </a:solidFill>
                <a:latin typeface="Calibri" pitchFamily="34" charset="0"/>
                <a:ea typeface="Calibri" pitchFamily="34" charset="-122"/>
                <a:cs typeface="Calibri" pitchFamily="34" charset="-120"/>
              </a:rPr>
              <a:t>KNOVA  ·  SENIOR RUST ENGINEER</a:t>
            </a:r>
            <a:endParaRPr lang="en-US" sz="1100" dirty="0"/>
          </a:p>
        </p:txBody>
      </p:sp>
      <p:sp>
        <p:nvSpPr>
          <p:cNvPr id="5" name="Text 3"/>
          <p:cNvSpPr/>
          <p:nvPr/>
        </p:nvSpPr>
        <p:spPr>
          <a:xfrm>
            <a:off x="502920" y="1783080"/>
            <a:ext cx="10424160" cy="1691640"/>
          </a:xfrm>
          <a:prstGeom prst="rect">
            <a:avLst/>
          </a:prstGeom>
          <a:noFill/>
          <a:ln/>
        </p:spPr>
        <p:txBody>
          <a:bodyPr wrap="square" lIns="0" tIns="0" rIns="0" bIns="0" rtlCol="0" anchor="t"/>
          <a:lstStyle/>
          <a:p>
            <a:pPr indent="0" marL="0">
              <a:lnSpc>
                <a:spcPts val="5200"/>
              </a:lnSpc>
              <a:buNone/>
            </a:pPr>
            <a:r>
              <a:rPr lang="en-US" sz="4800" b="1" dirty="0">
                <a:solidFill>
                  <a:srgbClr val="E86A33"/>
                </a:solidFill>
                <a:latin typeface="Cambria" pitchFamily="34" charset="0"/>
                <a:ea typeface="Cambria" pitchFamily="34" charset="-122"/>
                <a:cs typeface="Cambria" pitchFamily="34" charset="-120"/>
              </a:rPr>
              <a:t>Lost updates</a:t>
            </a:r>
            <a:pPr indent="0" marL="0">
              <a:lnSpc>
                <a:spcPts val="5200"/>
              </a:lnSpc>
              <a:buNone/>
            </a:pPr>
            <a:r>
              <a:rPr lang="en-US" sz="4800" b="1" dirty="0">
                <a:solidFill>
                  <a:srgbClr val="E9EDF2"/>
                </a:solidFill>
                <a:latin typeface="Cambria" pitchFamily="34" charset="0"/>
                <a:ea typeface="Cambria" pitchFamily="34" charset="-122"/>
                <a:cs typeface="Cambria" pitchFamily="34" charset="-120"/>
              </a:rPr>
              <a:t> and</a:t>
            </a:r>
            <a:endParaRPr lang="en-US" sz="4800" dirty="0"/>
          </a:p>
          <a:p>
            <a:pPr indent="0" marL="0">
              <a:lnSpc>
                <a:spcPts val="5200"/>
              </a:lnSpc>
              <a:buNone/>
            </a:pPr>
            <a:r>
              <a:rPr lang="en-US" sz="4800" b="1" dirty="0">
                <a:solidFill>
                  <a:srgbClr val="E9EDF2"/>
                </a:solidFill>
                <a:latin typeface="Cambria" pitchFamily="34" charset="0"/>
                <a:ea typeface="Cambria" pitchFamily="34" charset="-122"/>
                <a:cs typeface="Cambria" pitchFamily="34" charset="-120"/>
              </a:rPr>
              <a:t>enumeration oracles.</a:t>
            </a:r>
            <a:endParaRPr lang="en-US" sz="4800" dirty="0"/>
          </a:p>
        </p:txBody>
      </p:sp>
      <p:sp>
        <p:nvSpPr>
          <p:cNvPr id="6" name="Text 4"/>
          <p:cNvSpPr/>
          <p:nvPr/>
        </p:nvSpPr>
        <p:spPr>
          <a:xfrm>
            <a:off x="502920" y="3657600"/>
            <a:ext cx="8595360" cy="1005840"/>
          </a:xfrm>
          <a:prstGeom prst="rect">
            <a:avLst/>
          </a:prstGeom>
          <a:noFill/>
          <a:ln/>
        </p:spPr>
        <p:txBody>
          <a:bodyPr wrap="square" lIns="0" tIns="0" rIns="0" bIns="0" rtlCol="0" anchor="ctr"/>
          <a:lstStyle/>
          <a:p>
            <a:pPr indent="0" marL="0">
              <a:lnSpc>
                <a:spcPts val="2100"/>
              </a:lnSpc>
              <a:buNone/>
            </a:pPr>
            <a:r>
              <a:rPr lang="en-US" sz="1450" dirty="0">
                <a:solidFill>
                  <a:srgbClr val="8B98A8"/>
                </a:solidFill>
                <a:latin typeface="Calibri" pitchFamily="34" charset="0"/>
                <a:ea typeface="Calibri" pitchFamily="34" charset="-122"/>
                <a:cs typeface="Calibri" pitchFamily="34" charset="-120"/>
              </a:rPr>
              <a:t>Two microservices are forty-five minutes of work. The exercise is really asking two questions: can you tell the difference between three kinds of concurrency bug, and do you know that matching a status code is only half of hiding whether an account exists.</a:t>
            </a:r>
            <a:endParaRPr lang="en-US" sz="1450" dirty="0"/>
          </a:p>
        </p:txBody>
      </p:sp>
      <p:sp>
        <p:nvSpPr>
          <p:cNvPr id="7" name="Shape 5"/>
          <p:cNvSpPr/>
          <p:nvPr/>
        </p:nvSpPr>
        <p:spPr>
          <a:xfrm>
            <a:off x="502920" y="5029200"/>
            <a:ext cx="3520440" cy="1234440"/>
          </a:xfrm>
          <a:prstGeom prst="roundRect">
            <a:avLst>
              <a:gd name="adj" fmla="val 3704"/>
            </a:avLst>
          </a:prstGeom>
          <a:solidFill>
            <a:srgbClr val="171C24"/>
          </a:solidFill>
          <a:ln w="12700">
            <a:solidFill>
              <a:srgbClr val="2A323D"/>
            </a:solidFill>
            <a:prstDash val="solid"/>
          </a:ln>
        </p:spPr>
      </p:sp>
      <p:sp>
        <p:nvSpPr>
          <p:cNvPr id="8" name="Text 6"/>
          <p:cNvSpPr/>
          <p:nvPr/>
        </p:nvSpPr>
        <p:spPr>
          <a:xfrm>
            <a:off x="758952" y="5175504"/>
            <a:ext cx="3017520" cy="566928"/>
          </a:xfrm>
          <a:prstGeom prst="rect">
            <a:avLst/>
          </a:prstGeom>
          <a:noFill/>
          <a:ln/>
        </p:spPr>
        <p:txBody>
          <a:bodyPr wrap="square" lIns="0" tIns="0" rIns="0" bIns="0" rtlCol="0" anchor="ctr"/>
          <a:lstStyle/>
          <a:p>
            <a:pPr indent="0" marL="0">
              <a:buNone/>
            </a:pPr>
            <a:r>
              <a:rPr lang="en-US" sz="3000" b="1" dirty="0">
                <a:solidFill>
                  <a:srgbClr val="3FB9A0"/>
                </a:solidFill>
                <a:latin typeface="Cambria" pitchFamily="34" charset="0"/>
                <a:ea typeface="Cambria" pitchFamily="34" charset="-122"/>
                <a:cs typeface="Cambria" pitchFamily="34" charset="-120"/>
              </a:rPr>
              <a:t>52</a:t>
            </a:r>
            <a:endParaRPr lang="en-US" sz="3000" dirty="0"/>
          </a:p>
        </p:txBody>
      </p:sp>
      <p:sp>
        <p:nvSpPr>
          <p:cNvPr id="9" name="Text 7"/>
          <p:cNvSpPr/>
          <p:nvPr/>
        </p:nvSpPr>
        <p:spPr>
          <a:xfrm>
            <a:off x="758952" y="5724144"/>
            <a:ext cx="3017520" cy="384048"/>
          </a:xfrm>
          <a:prstGeom prst="rect">
            <a:avLst/>
          </a:prstGeom>
          <a:noFill/>
          <a:ln/>
        </p:spPr>
        <p:txBody>
          <a:bodyPr wrap="square" lIns="0" tIns="0" rIns="0" bIns="0" rtlCol="0" anchor="ctr"/>
          <a:lstStyle/>
          <a:p>
            <a:pPr indent="0" marL="0">
              <a:buNone/>
            </a:pPr>
            <a:r>
              <a:rPr lang="en-US" sz="1150" dirty="0">
                <a:solidFill>
                  <a:srgbClr val="8B98A8"/>
                </a:solidFill>
                <a:latin typeface="Calibri" pitchFamily="34" charset="0"/>
                <a:ea typeface="Calibri" pitchFamily="34" charset="-122"/>
                <a:cs typeface="Calibri" pitchFamily="34" charset="-120"/>
              </a:rPr>
              <a:t>tests, all green</a:t>
            </a:r>
            <a:endParaRPr lang="en-US" sz="1150" dirty="0"/>
          </a:p>
        </p:txBody>
      </p:sp>
      <p:sp>
        <p:nvSpPr>
          <p:cNvPr id="10" name="Shape 8"/>
          <p:cNvSpPr/>
          <p:nvPr/>
        </p:nvSpPr>
        <p:spPr>
          <a:xfrm>
            <a:off x="4279392" y="5029200"/>
            <a:ext cx="3520440" cy="1234440"/>
          </a:xfrm>
          <a:prstGeom prst="roundRect">
            <a:avLst>
              <a:gd name="adj" fmla="val 3704"/>
            </a:avLst>
          </a:prstGeom>
          <a:solidFill>
            <a:srgbClr val="171C24"/>
          </a:solidFill>
          <a:ln w="12700">
            <a:solidFill>
              <a:srgbClr val="2A323D"/>
            </a:solidFill>
            <a:prstDash val="solid"/>
          </a:ln>
        </p:spPr>
      </p:sp>
      <p:sp>
        <p:nvSpPr>
          <p:cNvPr id="11" name="Text 9"/>
          <p:cNvSpPr/>
          <p:nvPr/>
        </p:nvSpPr>
        <p:spPr>
          <a:xfrm>
            <a:off x="4535424" y="5175504"/>
            <a:ext cx="3017520" cy="566928"/>
          </a:xfrm>
          <a:prstGeom prst="rect">
            <a:avLst/>
          </a:prstGeom>
          <a:noFill/>
          <a:ln/>
        </p:spPr>
        <p:txBody>
          <a:bodyPr wrap="square" lIns="0" tIns="0" rIns="0" bIns="0" rtlCol="0" anchor="ctr"/>
          <a:lstStyle/>
          <a:p>
            <a:pPr indent="0" marL="0">
              <a:buNone/>
            </a:pPr>
            <a:r>
              <a:rPr lang="en-US" sz="3000" b="1" dirty="0">
                <a:solidFill>
                  <a:srgbClr val="E9EDF2"/>
                </a:solidFill>
                <a:latin typeface="Cambria" pitchFamily="34" charset="0"/>
                <a:ea typeface="Cambria" pitchFamily="34" charset="-122"/>
                <a:cs typeface="Cambria" pitchFamily="34" charset="-120"/>
              </a:rPr>
              <a:t>0</a:t>
            </a:r>
            <a:endParaRPr lang="en-US" sz="3000" dirty="0"/>
          </a:p>
        </p:txBody>
      </p:sp>
      <p:sp>
        <p:nvSpPr>
          <p:cNvPr id="12" name="Text 10"/>
          <p:cNvSpPr/>
          <p:nvPr/>
        </p:nvSpPr>
        <p:spPr>
          <a:xfrm>
            <a:off x="4535424" y="5724144"/>
            <a:ext cx="3017520" cy="384048"/>
          </a:xfrm>
          <a:prstGeom prst="rect">
            <a:avLst/>
          </a:prstGeom>
          <a:noFill/>
          <a:ln/>
        </p:spPr>
        <p:txBody>
          <a:bodyPr wrap="square" lIns="0" tIns="0" rIns="0" bIns="0" rtlCol="0" anchor="ctr"/>
          <a:lstStyle/>
          <a:p>
            <a:pPr indent="0" marL="0">
              <a:buNone/>
            </a:pPr>
            <a:r>
              <a:rPr lang="en-US" sz="1150" dirty="0">
                <a:solidFill>
                  <a:srgbClr val="8B98A8"/>
                </a:solidFill>
                <a:latin typeface="Calibri" pitchFamily="34" charset="0"/>
                <a:ea typeface="Calibri" pitchFamily="34" charset="-122"/>
                <a:cs typeface="Calibri" pitchFamily="34" charset="-120"/>
              </a:rPr>
              <a:t>clippy findings at pedantic</a:t>
            </a:r>
            <a:endParaRPr lang="en-US" sz="1150" dirty="0"/>
          </a:p>
        </p:txBody>
      </p:sp>
      <p:sp>
        <p:nvSpPr>
          <p:cNvPr id="13" name="Shape 11"/>
          <p:cNvSpPr/>
          <p:nvPr/>
        </p:nvSpPr>
        <p:spPr>
          <a:xfrm>
            <a:off x="8055864" y="5029200"/>
            <a:ext cx="3520440" cy="1234440"/>
          </a:xfrm>
          <a:prstGeom prst="roundRect">
            <a:avLst>
              <a:gd name="adj" fmla="val 3704"/>
            </a:avLst>
          </a:prstGeom>
          <a:solidFill>
            <a:srgbClr val="171C24"/>
          </a:solidFill>
          <a:ln w="12700">
            <a:solidFill>
              <a:srgbClr val="2A323D"/>
            </a:solidFill>
            <a:prstDash val="solid"/>
          </a:ln>
        </p:spPr>
      </p:sp>
      <p:sp>
        <p:nvSpPr>
          <p:cNvPr id="14" name="Text 12"/>
          <p:cNvSpPr/>
          <p:nvPr/>
        </p:nvSpPr>
        <p:spPr>
          <a:xfrm>
            <a:off x="8311896" y="5175504"/>
            <a:ext cx="3017520" cy="566928"/>
          </a:xfrm>
          <a:prstGeom prst="rect">
            <a:avLst/>
          </a:prstGeom>
          <a:noFill/>
          <a:ln/>
        </p:spPr>
        <p:txBody>
          <a:bodyPr wrap="square" lIns="0" tIns="0" rIns="0" bIns="0" rtlCol="0" anchor="ctr"/>
          <a:lstStyle/>
          <a:p>
            <a:pPr indent="0" marL="0">
              <a:buNone/>
            </a:pPr>
            <a:r>
              <a:rPr lang="en-US" sz="3000" b="1" dirty="0">
                <a:solidFill>
                  <a:srgbClr val="E86A33"/>
                </a:solidFill>
                <a:latin typeface="Cambria" pitchFamily="34" charset="0"/>
                <a:ea typeface="Cambria" pitchFamily="34" charset="-122"/>
                <a:cs typeface="Cambria" pitchFamily="34" charset="-120"/>
              </a:rPr>
              <a:t>+18%</a:t>
            </a:r>
            <a:endParaRPr lang="en-US" sz="3000" dirty="0"/>
          </a:p>
        </p:txBody>
      </p:sp>
      <p:sp>
        <p:nvSpPr>
          <p:cNvPr id="15" name="Text 13"/>
          <p:cNvSpPr/>
          <p:nvPr/>
        </p:nvSpPr>
        <p:spPr>
          <a:xfrm>
            <a:off x="8311896" y="5724144"/>
            <a:ext cx="3017520" cy="384048"/>
          </a:xfrm>
          <a:prstGeom prst="rect">
            <a:avLst/>
          </a:prstGeom>
          <a:noFill/>
          <a:ln/>
        </p:spPr>
        <p:txBody>
          <a:bodyPr wrap="square" lIns="0" tIns="0" rIns="0" bIns="0" rtlCol="0" anchor="ctr"/>
          <a:lstStyle/>
          <a:p>
            <a:pPr indent="0" marL="0">
              <a:buNone/>
            </a:pPr>
            <a:r>
              <a:rPr lang="en-US" sz="1150" dirty="0">
                <a:solidFill>
                  <a:srgbClr val="8B98A8"/>
                </a:solidFill>
                <a:latin typeface="Calibri" pitchFamily="34" charset="0"/>
                <a:ea typeface="Calibri" pitchFamily="34" charset="-122"/>
                <a:cs typeface="Calibri" pitchFamily="34" charset="-120"/>
              </a:rPr>
              <a:t>gateway throughput, one line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02920" y="438912"/>
            <a:ext cx="420624" cy="420624"/>
          </a:xfrm>
          <a:prstGeom prst="ellipse">
            <a:avLst/>
          </a:prstGeom>
          <a:solidFill>
            <a:srgbClr val="E86A33"/>
          </a:solidFill>
          <a:ln/>
        </p:spPr>
      </p:sp>
      <p:sp>
        <p:nvSpPr>
          <p:cNvPr id="3" name="Text 1"/>
          <p:cNvSpPr/>
          <p:nvPr/>
        </p:nvSpPr>
        <p:spPr>
          <a:xfrm>
            <a:off x="502920" y="438912"/>
            <a:ext cx="420624" cy="420624"/>
          </a:xfrm>
          <a:prstGeom prst="rect">
            <a:avLst/>
          </a:prstGeom>
          <a:noFill/>
          <a:ln/>
        </p:spPr>
        <p:txBody>
          <a:bodyPr wrap="square" lIns="0" tIns="0" rIns="0" bIns="0" rtlCol="0" anchor="ctr"/>
          <a:lstStyle/>
          <a:p>
            <a:pPr algn="ctr" indent="0" marL="0">
              <a:buNone/>
            </a:pPr>
            <a:r>
              <a:rPr lang="en-US" sz="1300" b="1" dirty="0">
                <a:solidFill>
                  <a:srgbClr val="0E1116"/>
                </a:solidFill>
                <a:latin typeface="Calibri" pitchFamily="34" charset="0"/>
                <a:ea typeface="Calibri" pitchFamily="34" charset="-122"/>
                <a:cs typeface="Calibri" pitchFamily="34" charset="-120"/>
              </a:rPr>
              <a:t>02</a:t>
            </a:r>
            <a:endParaRPr lang="en-US" sz="1300" dirty="0"/>
          </a:p>
        </p:txBody>
      </p:sp>
      <p:sp>
        <p:nvSpPr>
          <p:cNvPr id="4" name="Text 2"/>
          <p:cNvSpPr/>
          <p:nvPr/>
        </p:nvSpPr>
        <p:spPr>
          <a:xfrm>
            <a:off x="1106424" y="438912"/>
            <a:ext cx="8229600" cy="420624"/>
          </a:xfrm>
          <a:prstGeom prst="rect">
            <a:avLst/>
          </a:prstGeom>
          <a:noFill/>
          <a:ln/>
        </p:spPr>
        <p:txBody>
          <a:bodyPr wrap="square" lIns="0" tIns="0" rIns="0" bIns="0" rtlCol="0" anchor="ctr"/>
          <a:lstStyle/>
          <a:p>
            <a:pPr indent="0" marL="0">
              <a:buNone/>
            </a:pPr>
            <a:r>
              <a:rPr lang="en-US" sz="1100" spc="240" kern="0" dirty="0">
                <a:solidFill>
                  <a:srgbClr val="8B98A8"/>
                </a:solidFill>
                <a:latin typeface="Calibri" pitchFamily="34" charset="0"/>
                <a:ea typeface="Calibri" pitchFamily="34" charset="-122"/>
                <a:cs typeface="Calibri" pitchFamily="34" charset="-120"/>
              </a:rPr>
              <a:t>ARCHITECTURE</a:t>
            </a:r>
            <a:endParaRPr lang="en-US" sz="1100" dirty="0"/>
          </a:p>
        </p:txBody>
      </p:sp>
      <p:sp>
        <p:nvSpPr>
          <p:cNvPr id="5" name="Text 3"/>
          <p:cNvSpPr/>
          <p:nvPr/>
        </p:nvSpPr>
        <p:spPr>
          <a:xfrm>
            <a:off x="502920" y="1024128"/>
            <a:ext cx="11155680" cy="841248"/>
          </a:xfrm>
          <a:prstGeom prst="rect">
            <a:avLst/>
          </a:prstGeom>
          <a:noFill/>
          <a:ln/>
        </p:spPr>
        <p:txBody>
          <a:bodyPr wrap="square" lIns="0" tIns="0" rIns="0" bIns="0" rtlCol="0" anchor="t"/>
          <a:lstStyle/>
          <a:p>
            <a:pPr indent="0" marL="0">
              <a:buNone/>
            </a:pPr>
            <a:r>
              <a:rPr lang="en-US" sz="3300" b="1" dirty="0">
                <a:solidFill>
                  <a:srgbClr val="E9EDF2"/>
                </a:solidFill>
                <a:latin typeface="Cambria" pitchFamily="34" charset="0"/>
                <a:ea typeface="Cambria" pitchFamily="34" charset="-122"/>
                <a:cs typeface="Cambria" pitchFamily="34" charset="-120"/>
              </a:rPr>
              <a:t>One trust boundary, crossed once.</a:t>
            </a:r>
            <a:endParaRPr lang="en-US" sz="3300" dirty="0"/>
          </a:p>
        </p:txBody>
      </p:sp>
      <p:sp>
        <p:nvSpPr>
          <p:cNvPr id="6" name="Text 4"/>
          <p:cNvSpPr/>
          <p:nvPr/>
        </p:nvSpPr>
        <p:spPr>
          <a:xfrm>
            <a:off x="502920" y="1847088"/>
            <a:ext cx="10607040" cy="365760"/>
          </a:xfrm>
          <a:prstGeom prst="rect">
            <a:avLst/>
          </a:prstGeom>
          <a:noFill/>
          <a:ln/>
        </p:spPr>
        <p:txBody>
          <a:bodyPr wrap="square" lIns="0" tIns="0" rIns="0" bIns="0" rtlCol="0" anchor="ctr"/>
          <a:lstStyle/>
          <a:p>
            <a:pPr indent="0" marL="0">
              <a:buNone/>
            </a:pPr>
            <a:r>
              <a:rPr lang="en-US" sz="1350" dirty="0">
                <a:solidFill>
                  <a:srgbClr val="8B98A8"/>
                </a:solidFill>
                <a:latin typeface="Calibri" pitchFamily="34" charset="0"/>
                <a:ea typeface="Calibri" pitchFamily="34" charset="-122"/>
                <a:cs typeface="Calibri" pitchFamily="34" charset="-120"/>
              </a:rPr>
              <a:t>The profile service never sees a token and never validates one. Verification lives in exactly one place.</a:t>
            </a:r>
            <a:endParaRPr lang="en-US" sz="1350" dirty="0"/>
          </a:p>
        </p:txBody>
      </p:sp>
      <p:sp>
        <p:nvSpPr>
          <p:cNvPr id="7" name="Shape 5"/>
          <p:cNvSpPr/>
          <p:nvPr/>
        </p:nvSpPr>
        <p:spPr>
          <a:xfrm>
            <a:off x="502920" y="2880360"/>
            <a:ext cx="1325880" cy="914400"/>
          </a:xfrm>
          <a:prstGeom prst="roundRect">
            <a:avLst>
              <a:gd name="adj" fmla="val 5000"/>
            </a:avLst>
          </a:prstGeom>
          <a:solidFill>
            <a:srgbClr val="171C24"/>
          </a:solidFill>
          <a:ln w="12700">
            <a:solidFill>
              <a:srgbClr val="2A323D"/>
            </a:solidFill>
            <a:prstDash val="solid"/>
          </a:ln>
        </p:spPr>
      </p:sp>
      <p:sp>
        <p:nvSpPr>
          <p:cNvPr id="8" name="Text 6"/>
          <p:cNvSpPr/>
          <p:nvPr/>
        </p:nvSpPr>
        <p:spPr>
          <a:xfrm>
            <a:off x="502920" y="2999232"/>
            <a:ext cx="1325880" cy="310896"/>
          </a:xfrm>
          <a:prstGeom prst="rect">
            <a:avLst/>
          </a:prstGeom>
          <a:noFill/>
          <a:ln/>
        </p:spPr>
        <p:txBody>
          <a:bodyPr wrap="square" lIns="0" tIns="0" rIns="0" bIns="0" rtlCol="0" anchor="ctr"/>
          <a:lstStyle/>
          <a:p>
            <a:pPr algn="ctr" indent="0" marL="0">
              <a:buNone/>
            </a:pPr>
            <a:r>
              <a:rPr lang="en-US" sz="1400" b="1" dirty="0">
                <a:solidFill>
                  <a:srgbClr val="E9EDF2"/>
                </a:solidFill>
                <a:latin typeface="Calibri" pitchFamily="34" charset="0"/>
                <a:ea typeface="Calibri" pitchFamily="34" charset="-122"/>
                <a:cs typeface="Calibri" pitchFamily="34" charset="-120"/>
              </a:rPr>
              <a:t>client</a:t>
            </a:r>
            <a:endParaRPr lang="en-US" sz="1400" dirty="0"/>
          </a:p>
        </p:txBody>
      </p:sp>
      <p:sp>
        <p:nvSpPr>
          <p:cNvPr id="9" name="Text 7"/>
          <p:cNvSpPr/>
          <p:nvPr/>
        </p:nvSpPr>
        <p:spPr>
          <a:xfrm>
            <a:off x="502920" y="3310128"/>
            <a:ext cx="1325880" cy="274320"/>
          </a:xfrm>
          <a:prstGeom prst="rect">
            <a:avLst/>
          </a:prstGeom>
          <a:noFill/>
          <a:ln/>
        </p:spPr>
        <p:txBody>
          <a:bodyPr wrap="square" lIns="0" tIns="0" rIns="0" bIns="0" rtlCol="0" anchor="ctr"/>
          <a:lstStyle/>
          <a:p>
            <a:pPr algn="ctr" indent="0" marL="0">
              <a:buNone/>
            </a:pPr>
            <a:r>
              <a:rPr lang="en-US" sz="1000" dirty="0">
                <a:solidFill>
                  <a:srgbClr val="8B98A8"/>
                </a:solidFill>
                <a:latin typeface="Calibri" pitchFamily="34" charset="0"/>
                <a:ea typeface="Calibri" pitchFamily="34" charset="-122"/>
                <a:cs typeface="Calibri" pitchFamily="34" charset="-120"/>
              </a:rPr>
              <a:t>one address</a:t>
            </a:r>
            <a:endParaRPr lang="en-US" sz="1000" dirty="0"/>
          </a:p>
        </p:txBody>
      </p:sp>
      <p:sp>
        <p:nvSpPr>
          <p:cNvPr id="10" name="Shape 8"/>
          <p:cNvSpPr/>
          <p:nvPr/>
        </p:nvSpPr>
        <p:spPr>
          <a:xfrm>
            <a:off x="1883664" y="3337560"/>
            <a:ext cx="420624" cy="0"/>
          </a:xfrm>
          <a:prstGeom prst="line">
            <a:avLst/>
          </a:prstGeom>
          <a:noFill/>
          <a:ln w="22225">
            <a:solidFill>
              <a:srgbClr val="E86A33"/>
            </a:solidFill>
            <a:prstDash val="solid"/>
            <a:tailEnd type="triangle"/>
          </a:ln>
        </p:spPr>
      </p:sp>
      <p:sp>
        <p:nvSpPr>
          <p:cNvPr id="11" name="Shape 9"/>
          <p:cNvSpPr/>
          <p:nvPr/>
        </p:nvSpPr>
        <p:spPr>
          <a:xfrm>
            <a:off x="2377440" y="2395728"/>
            <a:ext cx="3931920" cy="2514600"/>
          </a:xfrm>
          <a:prstGeom prst="roundRect">
            <a:avLst>
              <a:gd name="adj" fmla="val 1818"/>
            </a:avLst>
          </a:prstGeom>
          <a:solidFill>
            <a:srgbClr val="171C24"/>
          </a:solidFill>
          <a:ln w="12700">
            <a:solidFill>
              <a:srgbClr val="2A323D"/>
            </a:solidFill>
            <a:prstDash val="solid"/>
          </a:ln>
        </p:spPr>
      </p:sp>
      <p:sp>
        <p:nvSpPr>
          <p:cNvPr id="12" name="Text 10"/>
          <p:cNvSpPr/>
          <p:nvPr/>
        </p:nvSpPr>
        <p:spPr>
          <a:xfrm>
            <a:off x="2615184" y="2542032"/>
            <a:ext cx="2743200" cy="310896"/>
          </a:xfrm>
          <a:prstGeom prst="rect">
            <a:avLst/>
          </a:prstGeom>
          <a:noFill/>
          <a:ln/>
        </p:spPr>
        <p:txBody>
          <a:bodyPr wrap="square" lIns="0" tIns="0" rIns="0" bIns="0" rtlCol="0" anchor="ctr"/>
          <a:lstStyle/>
          <a:p>
            <a:pPr indent="0" marL="0">
              <a:buNone/>
            </a:pPr>
            <a:r>
              <a:rPr lang="en-US" sz="1500" b="1" dirty="0">
                <a:solidFill>
                  <a:srgbClr val="E9EDF2"/>
                </a:solidFill>
                <a:latin typeface="Calibri" pitchFamily="34" charset="0"/>
                <a:ea typeface="Calibri" pitchFamily="34" charset="-122"/>
                <a:cs typeface="Calibri" pitchFamily="34" charset="-120"/>
              </a:rPr>
              <a:t>auth-service</a:t>
            </a:r>
            <a:endParaRPr lang="en-US" sz="1500" dirty="0"/>
          </a:p>
        </p:txBody>
      </p:sp>
      <p:sp>
        <p:nvSpPr>
          <p:cNvPr id="13" name="Text 11"/>
          <p:cNvSpPr/>
          <p:nvPr/>
        </p:nvSpPr>
        <p:spPr>
          <a:xfrm>
            <a:off x="5248656" y="2542032"/>
            <a:ext cx="822960" cy="310896"/>
          </a:xfrm>
          <a:prstGeom prst="rect">
            <a:avLst/>
          </a:prstGeom>
          <a:noFill/>
          <a:ln/>
        </p:spPr>
        <p:txBody>
          <a:bodyPr wrap="square" lIns="0" tIns="0" rIns="0" bIns="0" rtlCol="0" anchor="ctr"/>
          <a:lstStyle/>
          <a:p>
            <a:pPr algn="r" indent="0" marL="0">
              <a:buNone/>
            </a:pPr>
            <a:r>
              <a:rPr lang="en-US" sz="1100" dirty="0">
                <a:solidFill>
                  <a:srgbClr val="E86A33"/>
                </a:solidFill>
                <a:latin typeface="Courier New" pitchFamily="34" charset="0"/>
                <a:ea typeface="Courier New" pitchFamily="34" charset="-122"/>
                <a:cs typeface="Courier New" pitchFamily="34" charset="-120"/>
              </a:rPr>
              <a:t>:8080</a:t>
            </a:r>
            <a:endParaRPr lang="en-US" sz="1100" dirty="0"/>
          </a:p>
        </p:txBody>
      </p:sp>
      <p:sp>
        <p:nvSpPr>
          <p:cNvPr id="14" name="Text 12"/>
          <p:cNvSpPr/>
          <p:nvPr/>
        </p:nvSpPr>
        <p:spPr>
          <a:xfrm>
            <a:off x="2615184" y="2926080"/>
            <a:ext cx="3456432" cy="914400"/>
          </a:xfrm>
          <a:prstGeom prst="rect">
            <a:avLst/>
          </a:prstGeom>
          <a:noFill/>
          <a:ln/>
        </p:spPr>
        <p:txBody>
          <a:bodyPr wrap="square" lIns="0" tIns="0" rIns="0" bIns="0" rtlCol="0" anchor="ctr"/>
          <a:lstStyle/>
          <a:p>
            <a:pPr indent="0" marL="0">
              <a:lnSpc>
                <a:spcPts val="1700"/>
              </a:lnSpc>
              <a:buNone/>
            </a:pPr>
            <a:r>
              <a:rPr lang="en-US" sz="1100" dirty="0">
                <a:solidFill>
                  <a:srgbClr val="C7D0DB"/>
                </a:solidFill>
                <a:latin typeface="Courier New" pitchFamily="34" charset="0"/>
                <a:ea typeface="Courier New" pitchFamily="34" charset="-122"/>
                <a:cs typeface="Courier New" pitchFamily="34" charset="-120"/>
              </a:rPr>
              <a:t>POST /login</a:t>
            </a:r>
            <a:pPr indent="0" marL="0">
              <a:lnSpc>
                <a:spcPts val="1700"/>
              </a:lnSpc>
              <a:buNone/>
            </a:pPr>
            <a:r>
              <a:rPr lang="en-US" sz="1100" dirty="0">
                <a:solidFill>
                  <a:srgbClr val="8B98A8"/>
                </a:solidFill>
                <a:latin typeface="Calibri" pitchFamily="34" charset="0"/>
                <a:ea typeface="Calibri" pitchFamily="34" charset="-122"/>
                <a:cs typeface="Calibri" pitchFamily="34" charset="-120"/>
              </a:rPr>
              <a:t>   argon2id → JWT
</a:t>
            </a:r>
            <a:pPr indent="0" marL="0">
              <a:lnSpc>
                <a:spcPts val="1700"/>
              </a:lnSpc>
              <a:buNone/>
            </a:pPr>
            <a:r>
              <a:rPr lang="en-US" sz="1100" dirty="0">
                <a:solidFill>
                  <a:srgbClr val="C7D0DB"/>
                </a:solidFill>
                <a:latin typeface="Courier New" pitchFamily="34" charset="0"/>
                <a:ea typeface="Courier New" pitchFamily="34" charset="-122"/>
                <a:cs typeface="Courier New" pitchFamily="34" charset="-120"/>
              </a:rPr>
              <a:t>POST /logout</a:t>
            </a:r>
            <a:pPr indent="0" marL="0">
              <a:lnSpc>
                <a:spcPts val="1700"/>
              </a:lnSpc>
              <a:buNone/>
            </a:pPr>
            <a:r>
              <a:rPr lang="en-US" sz="1100" dirty="0">
                <a:solidFill>
                  <a:srgbClr val="8B98A8"/>
                </a:solidFill>
                <a:latin typeface="Calibri" pitchFamily="34" charset="0"/>
                <a:ea typeface="Calibri" pitchFamily="34" charset="-122"/>
                <a:cs typeface="Calibri" pitchFamily="34" charset="-120"/>
              </a:rPr>
              <a:t>  revoke jti
</a:t>
            </a:r>
            <a:pPr indent="0" marL="0">
              <a:lnSpc>
                <a:spcPts val="1700"/>
              </a:lnSpc>
              <a:buNone/>
            </a:pPr>
            <a:r>
              <a:rPr lang="en-US" sz="1100" dirty="0">
                <a:solidFill>
                  <a:srgbClr val="C7D0DB"/>
                </a:solidFill>
                <a:latin typeface="Courier New" pitchFamily="34" charset="0"/>
                <a:ea typeface="Courier New" pitchFamily="34" charset="-122"/>
                <a:cs typeface="Courier New" pitchFamily="34" charset="-120"/>
              </a:rPr>
              <a:t>· /profile</a:t>
            </a:r>
            <a:pPr indent="0" marL="0">
              <a:lnSpc>
                <a:spcPts val="1700"/>
              </a:lnSpc>
              <a:buNone/>
            </a:pPr>
            <a:r>
              <a:rPr lang="en-US" sz="1100" dirty="0">
                <a:solidFill>
                  <a:srgbClr val="8B98A8"/>
                </a:solidFill>
                <a:latin typeface="Calibri" pitchFamily="34" charset="0"/>
                <a:ea typeface="Calibri" pitchFamily="34" charset="-122"/>
                <a:cs typeface="Calibri" pitchFamily="34" charset="-120"/>
              </a:rPr>
              <a:t>     verify, then forward</a:t>
            </a:r>
            <a:endParaRPr lang="en-US" sz="1100" dirty="0"/>
          </a:p>
        </p:txBody>
      </p:sp>
      <p:sp>
        <p:nvSpPr>
          <p:cNvPr id="15" name="Shape 13"/>
          <p:cNvSpPr/>
          <p:nvPr/>
        </p:nvSpPr>
        <p:spPr>
          <a:xfrm>
            <a:off x="2615184" y="3977640"/>
            <a:ext cx="3456432" cy="0"/>
          </a:xfrm>
          <a:prstGeom prst="line">
            <a:avLst/>
          </a:prstGeom>
          <a:noFill/>
          <a:ln w="12700">
            <a:solidFill>
              <a:srgbClr val="2A323D"/>
            </a:solidFill>
            <a:prstDash val="solid"/>
          </a:ln>
        </p:spPr>
      </p:sp>
      <p:sp>
        <p:nvSpPr>
          <p:cNvPr id="16" name="Text 14"/>
          <p:cNvSpPr/>
          <p:nvPr/>
        </p:nvSpPr>
        <p:spPr>
          <a:xfrm>
            <a:off x="2615184" y="4069080"/>
            <a:ext cx="3456432" cy="685800"/>
          </a:xfrm>
          <a:prstGeom prst="rect">
            <a:avLst/>
          </a:prstGeom>
          <a:noFill/>
          <a:ln/>
        </p:spPr>
        <p:txBody>
          <a:bodyPr wrap="square" lIns="0" tIns="0" rIns="0" bIns="0" rtlCol="0" anchor="ctr"/>
          <a:lstStyle/>
          <a:p>
            <a:pPr indent="0" marL="0">
              <a:lnSpc>
                <a:spcPts val="1500"/>
              </a:lnSpc>
              <a:buNone/>
            </a:pPr>
            <a:r>
              <a:rPr lang="en-US" sz="1050" dirty="0">
                <a:solidFill>
                  <a:srgbClr val="8B98A8"/>
                </a:solidFill>
                <a:latin typeface="Calibri" pitchFamily="34" charset="0"/>
                <a:ea typeface="Calibri" pitchFamily="34" charset="-122"/>
                <a:cs typeface="Calibri" pitchFamily="34" charset="-120"/>
              </a:rPr>
              <a:t>throttle · semaphore · timeouts</a:t>
            </a:r>
            <a:endParaRPr lang="en-US" sz="1050" dirty="0"/>
          </a:p>
          <a:p>
            <a:pPr indent="0" marL="0">
              <a:lnSpc>
                <a:spcPts val="1500"/>
              </a:lnSpc>
              <a:buNone/>
            </a:pPr>
            <a:r>
              <a:rPr lang="en-US" sz="1050" dirty="0">
                <a:solidFill>
                  <a:srgbClr val="8B98A8"/>
                </a:solidFill>
                <a:latin typeface="Calibri" pitchFamily="34" charset="0"/>
                <a:ea typeface="Calibri" pitchFamily="34" charset="-122"/>
                <a:cs typeface="Calibri" pitchFamily="34" charset="-120"/>
              </a:rPr>
              <a:t>strips client-supplied identity headers</a:t>
            </a:r>
            <a:endParaRPr lang="en-US" sz="1050" dirty="0"/>
          </a:p>
        </p:txBody>
      </p:sp>
      <p:sp>
        <p:nvSpPr>
          <p:cNvPr id="17" name="Shape 15"/>
          <p:cNvSpPr/>
          <p:nvPr/>
        </p:nvSpPr>
        <p:spPr>
          <a:xfrm>
            <a:off x="6400800" y="3337560"/>
            <a:ext cx="1444752" cy="0"/>
          </a:xfrm>
          <a:prstGeom prst="line">
            <a:avLst/>
          </a:prstGeom>
          <a:noFill/>
          <a:ln w="22225">
            <a:solidFill>
              <a:srgbClr val="E86A33"/>
            </a:solidFill>
            <a:prstDash val="solid"/>
            <a:tailEnd type="triangle"/>
          </a:ln>
        </p:spPr>
      </p:sp>
      <p:sp>
        <p:nvSpPr>
          <p:cNvPr id="18" name="Text 16"/>
          <p:cNvSpPr/>
          <p:nvPr/>
        </p:nvSpPr>
        <p:spPr>
          <a:xfrm>
            <a:off x="6327648" y="2670048"/>
            <a:ext cx="1554480" cy="566928"/>
          </a:xfrm>
          <a:prstGeom prst="rect">
            <a:avLst/>
          </a:prstGeom>
          <a:noFill/>
          <a:ln/>
        </p:spPr>
        <p:txBody>
          <a:bodyPr wrap="square" lIns="0" tIns="0" rIns="0" bIns="0" rtlCol="0" anchor="ctr"/>
          <a:lstStyle/>
          <a:p>
            <a:pPr algn="ctr" indent="0" marL="0">
              <a:lnSpc>
                <a:spcPts val="1300"/>
              </a:lnSpc>
              <a:buNone/>
            </a:pPr>
            <a:r>
              <a:rPr lang="en-US" sz="950" dirty="0">
                <a:solidFill>
                  <a:srgbClr val="E86A33"/>
                </a:solidFill>
                <a:latin typeface="Courier New" pitchFamily="34" charset="0"/>
                <a:ea typeface="Courier New" pitchFamily="34" charset="-122"/>
                <a:cs typeface="Courier New" pitchFamily="34" charset="-120"/>
              </a:rPr>
              <a:t>x-internal-token</a:t>
            </a:r>
            <a:endParaRPr lang="en-US" sz="950" dirty="0"/>
          </a:p>
          <a:p>
            <a:pPr algn="ctr" indent="0" marL="0">
              <a:lnSpc>
                <a:spcPts val="1300"/>
              </a:lnSpc>
              <a:buNone/>
            </a:pPr>
            <a:r>
              <a:rPr lang="en-US" sz="950" dirty="0">
                <a:solidFill>
                  <a:srgbClr val="E86A33"/>
                </a:solidFill>
                <a:latin typeface="Courier New" pitchFamily="34" charset="0"/>
                <a:ea typeface="Courier New" pitchFamily="34" charset="-122"/>
                <a:cs typeface="Courier New" pitchFamily="34" charset="-120"/>
              </a:rPr>
              <a:t>x-user-id</a:t>
            </a:r>
            <a:endParaRPr lang="en-US" sz="950" dirty="0"/>
          </a:p>
        </p:txBody>
      </p:sp>
      <p:sp>
        <p:nvSpPr>
          <p:cNvPr id="19" name="Shape 17"/>
          <p:cNvSpPr/>
          <p:nvPr/>
        </p:nvSpPr>
        <p:spPr>
          <a:xfrm>
            <a:off x="7955280" y="2395728"/>
            <a:ext cx="3703320" cy="2514600"/>
          </a:xfrm>
          <a:prstGeom prst="roundRect">
            <a:avLst>
              <a:gd name="adj" fmla="val 1818"/>
            </a:avLst>
          </a:prstGeom>
          <a:solidFill>
            <a:srgbClr val="171C24"/>
          </a:solidFill>
          <a:ln w="12700">
            <a:solidFill>
              <a:srgbClr val="2A323D"/>
            </a:solidFill>
            <a:prstDash val="solid"/>
          </a:ln>
        </p:spPr>
      </p:sp>
      <p:sp>
        <p:nvSpPr>
          <p:cNvPr id="20" name="Text 18"/>
          <p:cNvSpPr/>
          <p:nvPr/>
        </p:nvSpPr>
        <p:spPr>
          <a:xfrm>
            <a:off x="8193024" y="2542032"/>
            <a:ext cx="2377440" cy="310896"/>
          </a:xfrm>
          <a:prstGeom prst="rect">
            <a:avLst/>
          </a:prstGeom>
          <a:noFill/>
          <a:ln/>
        </p:spPr>
        <p:txBody>
          <a:bodyPr wrap="square" lIns="0" tIns="0" rIns="0" bIns="0" rtlCol="0" anchor="ctr"/>
          <a:lstStyle/>
          <a:p>
            <a:pPr indent="0" marL="0">
              <a:buNone/>
            </a:pPr>
            <a:r>
              <a:rPr lang="en-US" sz="1500" b="1" dirty="0">
                <a:solidFill>
                  <a:srgbClr val="E9EDF2"/>
                </a:solidFill>
                <a:latin typeface="Calibri" pitchFamily="34" charset="0"/>
                <a:ea typeface="Calibri" pitchFamily="34" charset="-122"/>
                <a:cs typeface="Calibri" pitchFamily="34" charset="-120"/>
              </a:rPr>
              <a:t>profile-service</a:t>
            </a:r>
            <a:endParaRPr lang="en-US" sz="1500" dirty="0"/>
          </a:p>
        </p:txBody>
      </p:sp>
      <p:sp>
        <p:nvSpPr>
          <p:cNvPr id="21" name="Text 19"/>
          <p:cNvSpPr/>
          <p:nvPr/>
        </p:nvSpPr>
        <p:spPr>
          <a:xfrm>
            <a:off x="10597896" y="2542032"/>
            <a:ext cx="822960" cy="310896"/>
          </a:xfrm>
          <a:prstGeom prst="rect">
            <a:avLst/>
          </a:prstGeom>
          <a:noFill/>
          <a:ln/>
        </p:spPr>
        <p:txBody>
          <a:bodyPr wrap="square" lIns="0" tIns="0" rIns="0" bIns="0" rtlCol="0" anchor="ctr"/>
          <a:lstStyle/>
          <a:p>
            <a:pPr algn="r" indent="0" marL="0">
              <a:buNone/>
            </a:pPr>
            <a:r>
              <a:rPr lang="en-US" sz="1100" dirty="0">
                <a:solidFill>
                  <a:srgbClr val="E86A33"/>
                </a:solidFill>
                <a:latin typeface="Courier New" pitchFamily="34" charset="0"/>
                <a:ea typeface="Courier New" pitchFamily="34" charset="-122"/>
                <a:cs typeface="Courier New" pitchFamily="34" charset="-120"/>
              </a:rPr>
              <a:t>:8081</a:t>
            </a:r>
            <a:endParaRPr lang="en-US" sz="1100" dirty="0"/>
          </a:p>
        </p:txBody>
      </p:sp>
      <p:sp>
        <p:nvSpPr>
          <p:cNvPr id="22" name="Text 20"/>
          <p:cNvSpPr/>
          <p:nvPr/>
        </p:nvSpPr>
        <p:spPr>
          <a:xfrm>
            <a:off x="8193024" y="2971800"/>
            <a:ext cx="3227832" cy="105156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8B98A8"/>
                </a:solidFill>
                <a:latin typeface="Calibri" pitchFamily="34" charset="0"/>
                <a:ea typeface="Calibri" pitchFamily="34" charset="-122"/>
                <a:cs typeface="Calibri" pitchFamily="34" charset="-120"/>
              </a:rPr>
              <a:t>no token ever reaches here</a:t>
            </a:r>
            <a:endParaRPr lang="en-US" sz="1100" dirty="0"/>
          </a:p>
          <a:p>
            <a:pPr marL="342900" indent="-342900">
              <a:spcAft>
                <a:spcPts val="600"/>
              </a:spcAft>
              <a:buSzPct val="100000"/>
              <a:buChar char="•"/>
            </a:pPr>
            <a:r>
              <a:rPr lang="en-US" sz="1100" dirty="0">
                <a:solidFill>
                  <a:srgbClr val="8B98A8"/>
                </a:solidFill>
                <a:latin typeface="Calibri" pitchFamily="34" charset="0"/>
                <a:ea typeface="Calibri" pitchFamily="34" charset="-122"/>
                <a:cs typeface="Calibri" pitchFamily="34" charset="-120"/>
              </a:rPr>
              <a:t>constant-time secret check</a:t>
            </a:r>
            <a:endParaRPr lang="en-US" sz="1100" dirty="0"/>
          </a:p>
          <a:p>
            <a:pPr marL="342900" indent="-342900">
              <a:spcAft>
                <a:spcPts val="600"/>
              </a:spcAft>
              <a:buSzPct val="100000"/>
              <a:buChar char="•"/>
            </a:pPr>
            <a:r>
              <a:rPr lang="en-US" sz="1100" dirty="0">
                <a:solidFill>
                  <a:srgbClr val="8B98A8"/>
                </a:solidFill>
                <a:latin typeface="Calibri" pitchFamily="34" charset="0"/>
                <a:ea typeface="Calibri" pitchFamily="34" charset="-122"/>
                <a:cs typeface="Calibri" pitchFamily="34" charset="-120"/>
              </a:rPr>
              <a:t>versioned records, append-only</a:t>
            </a:r>
            <a:endParaRPr lang="en-US" sz="1100" dirty="0"/>
          </a:p>
        </p:txBody>
      </p:sp>
      <p:sp>
        <p:nvSpPr>
          <p:cNvPr id="23" name="Shape 21"/>
          <p:cNvSpPr/>
          <p:nvPr/>
        </p:nvSpPr>
        <p:spPr>
          <a:xfrm>
            <a:off x="8193024" y="4114800"/>
            <a:ext cx="3227832" cy="0"/>
          </a:xfrm>
          <a:prstGeom prst="line">
            <a:avLst/>
          </a:prstGeom>
          <a:noFill/>
          <a:ln w="12700">
            <a:solidFill>
              <a:srgbClr val="2A323D"/>
            </a:solidFill>
            <a:prstDash val="solid"/>
          </a:ln>
        </p:spPr>
      </p:sp>
      <p:sp>
        <p:nvSpPr>
          <p:cNvPr id="24" name="Text 22"/>
          <p:cNvSpPr/>
          <p:nvPr/>
        </p:nvSpPr>
        <p:spPr>
          <a:xfrm>
            <a:off x="8193024" y="4206240"/>
            <a:ext cx="3227832" cy="365760"/>
          </a:xfrm>
          <a:prstGeom prst="rect">
            <a:avLst/>
          </a:prstGeom>
          <a:noFill/>
          <a:ln/>
        </p:spPr>
        <p:txBody>
          <a:bodyPr wrap="square" lIns="0" tIns="0" rIns="0" bIns="0" rtlCol="0" anchor="ctr"/>
          <a:lstStyle/>
          <a:p>
            <a:pPr indent="0" marL="0">
              <a:buNone/>
            </a:pPr>
            <a:r>
              <a:rPr lang="en-US" sz="1100" dirty="0">
                <a:solidFill>
                  <a:srgbClr val="8B98A8"/>
                </a:solidFill>
                <a:latin typeface="Calibri" pitchFamily="34" charset="0"/>
                <a:ea typeface="Calibri" pitchFamily="34" charset="-122"/>
                <a:cs typeface="Calibri" pitchFamily="34" charset="-120"/>
              </a:rPr>
              <a:t>direct callers → </a:t>
            </a:r>
            <a:pPr indent="0" marL="0">
              <a:buNone/>
            </a:pPr>
            <a:r>
              <a:rPr lang="en-US" sz="1100" b="1" dirty="0">
                <a:solidFill>
                  <a:srgbClr val="E05252"/>
                </a:solidFill>
                <a:latin typeface="Courier New" pitchFamily="34" charset="0"/>
                <a:ea typeface="Courier New" pitchFamily="34" charset="-122"/>
                <a:cs typeface="Courier New" pitchFamily="34" charset="-120"/>
              </a:rPr>
              <a:t>403</a:t>
            </a:r>
            <a:endParaRPr lang="en-US" sz="1100" dirty="0"/>
          </a:p>
        </p:txBody>
      </p:sp>
      <p:sp>
        <p:nvSpPr>
          <p:cNvPr id="25" name="Text 23"/>
          <p:cNvSpPr/>
          <p:nvPr/>
        </p:nvSpPr>
        <p:spPr>
          <a:xfrm>
            <a:off x="502920" y="5349240"/>
            <a:ext cx="10881360" cy="457200"/>
          </a:xfrm>
          <a:prstGeom prst="rect">
            <a:avLst/>
          </a:prstGeom>
          <a:noFill/>
          <a:ln/>
        </p:spPr>
        <p:txBody>
          <a:bodyPr wrap="square" lIns="0" tIns="0" rIns="0" bIns="0" rtlCol="0" anchor="ctr"/>
          <a:lstStyle/>
          <a:p>
            <a:pPr indent="0" marL="0">
              <a:buNone/>
            </a:pPr>
            <a:r>
              <a:rPr lang="en-US" sz="1250" dirty="0">
                <a:solidFill>
                  <a:srgbClr val="8B98A8"/>
                </a:solidFill>
                <a:latin typeface="Calibri" pitchFamily="34" charset="0"/>
                <a:ea typeface="Calibri" pitchFamily="34" charset="-122"/>
                <a:cs typeface="Calibri" pitchFamily="34" charset="-120"/>
              </a:rPr>
              <a:t>A client cannot reach the profile service, and the profile service cannot be tricked by a forged identity header — the gateway strips them before forwarding.</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02920" y="438912"/>
            <a:ext cx="420624" cy="420624"/>
          </a:xfrm>
          <a:prstGeom prst="ellipse">
            <a:avLst/>
          </a:prstGeom>
          <a:solidFill>
            <a:srgbClr val="E86A33"/>
          </a:solidFill>
          <a:ln/>
        </p:spPr>
      </p:sp>
      <p:sp>
        <p:nvSpPr>
          <p:cNvPr id="3" name="Text 1"/>
          <p:cNvSpPr/>
          <p:nvPr/>
        </p:nvSpPr>
        <p:spPr>
          <a:xfrm>
            <a:off x="502920" y="438912"/>
            <a:ext cx="420624" cy="420624"/>
          </a:xfrm>
          <a:prstGeom prst="rect">
            <a:avLst/>
          </a:prstGeom>
          <a:noFill/>
          <a:ln/>
        </p:spPr>
        <p:txBody>
          <a:bodyPr wrap="square" lIns="0" tIns="0" rIns="0" bIns="0" rtlCol="0" anchor="ctr"/>
          <a:lstStyle/>
          <a:p>
            <a:pPr algn="ctr" indent="0" marL="0">
              <a:buNone/>
            </a:pPr>
            <a:r>
              <a:rPr lang="en-US" sz="1300" b="1" dirty="0">
                <a:solidFill>
                  <a:srgbClr val="0E1116"/>
                </a:solidFill>
                <a:latin typeface="Calibri" pitchFamily="34" charset="0"/>
                <a:ea typeface="Calibri" pitchFamily="34" charset="-122"/>
                <a:cs typeface="Calibri" pitchFamily="34" charset="-120"/>
              </a:rPr>
              <a:t>03</a:t>
            </a:r>
            <a:endParaRPr lang="en-US" sz="1300" dirty="0"/>
          </a:p>
        </p:txBody>
      </p:sp>
      <p:sp>
        <p:nvSpPr>
          <p:cNvPr id="4" name="Text 2"/>
          <p:cNvSpPr/>
          <p:nvPr/>
        </p:nvSpPr>
        <p:spPr>
          <a:xfrm>
            <a:off x="1106424" y="438912"/>
            <a:ext cx="8229600" cy="420624"/>
          </a:xfrm>
          <a:prstGeom prst="rect">
            <a:avLst/>
          </a:prstGeom>
          <a:noFill/>
          <a:ln/>
        </p:spPr>
        <p:txBody>
          <a:bodyPr wrap="square" lIns="0" tIns="0" rIns="0" bIns="0" rtlCol="0" anchor="ctr"/>
          <a:lstStyle/>
          <a:p>
            <a:pPr indent="0" marL="0">
              <a:buNone/>
            </a:pPr>
            <a:r>
              <a:rPr lang="en-US" sz="1100" spc="240" kern="0" dirty="0">
                <a:solidFill>
                  <a:srgbClr val="8B98A8"/>
                </a:solidFill>
                <a:latin typeface="Calibri" pitchFamily="34" charset="0"/>
                <a:ea typeface="Calibri" pitchFamily="34" charset="-122"/>
                <a:cs typeface="Calibri" pitchFamily="34" charset="-120"/>
              </a:rPr>
              <a:t>THE CONCURRENCY QUESTION</a:t>
            </a:r>
            <a:endParaRPr lang="en-US" sz="1100" dirty="0"/>
          </a:p>
        </p:txBody>
      </p:sp>
      <p:sp>
        <p:nvSpPr>
          <p:cNvPr id="5" name="Text 3"/>
          <p:cNvSpPr/>
          <p:nvPr/>
        </p:nvSpPr>
        <p:spPr>
          <a:xfrm>
            <a:off x="502920" y="1024128"/>
            <a:ext cx="11155680" cy="841248"/>
          </a:xfrm>
          <a:prstGeom prst="rect">
            <a:avLst/>
          </a:prstGeom>
          <a:noFill/>
          <a:ln/>
        </p:spPr>
        <p:txBody>
          <a:bodyPr wrap="square" lIns="0" tIns="0" rIns="0" bIns="0" rtlCol="0" anchor="t"/>
          <a:lstStyle/>
          <a:p>
            <a:pPr indent="0" marL="0">
              <a:buNone/>
            </a:pPr>
            <a:r>
              <a:rPr lang="en-US" sz="3300" b="1" dirty="0">
                <a:solidFill>
                  <a:srgbClr val="E9EDF2"/>
                </a:solidFill>
                <a:latin typeface="Cambria" pitchFamily="34" charset="0"/>
                <a:ea typeface="Cambria" pitchFamily="34" charset="-122"/>
                <a:cs typeface="Cambria" pitchFamily="34" charset="-120"/>
              </a:rPr>
              <a:t>Three hazards. Only one is hard.</a:t>
            </a:r>
            <a:endParaRPr lang="en-US" sz="3300" dirty="0"/>
          </a:p>
        </p:txBody>
      </p:sp>
      <p:sp>
        <p:nvSpPr>
          <p:cNvPr id="6" name="Text 4"/>
          <p:cNvSpPr/>
          <p:nvPr/>
        </p:nvSpPr>
        <p:spPr>
          <a:xfrm>
            <a:off x="740664" y="1938528"/>
            <a:ext cx="2194560" cy="274320"/>
          </a:xfrm>
          <a:prstGeom prst="rect">
            <a:avLst/>
          </a:prstGeom>
          <a:noFill/>
          <a:ln/>
        </p:spPr>
        <p:txBody>
          <a:bodyPr wrap="square" lIns="0" tIns="0" rIns="0" bIns="0" rtlCol="0" anchor="ctr"/>
          <a:lstStyle/>
          <a:p>
            <a:pPr indent="0" marL="0">
              <a:buNone/>
            </a:pPr>
            <a:r>
              <a:rPr lang="en-US" sz="950" spc="180" kern="0" dirty="0">
                <a:solidFill>
                  <a:srgbClr val="8B98A8"/>
                </a:solidFill>
                <a:latin typeface="Calibri" pitchFamily="34" charset="0"/>
                <a:ea typeface="Calibri" pitchFamily="34" charset="-122"/>
                <a:cs typeface="Calibri" pitchFamily="34" charset="-120"/>
              </a:rPr>
              <a:t>HAZARD</a:t>
            </a:r>
            <a:endParaRPr lang="en-US" sz="950" dirty="0"/>
          </a:p>
        </p:txBody>
      </p:sp>
      <p:sp>
        <p:nvSpPr>
          <p:cNvPr id="7" name="Text 5"/>
          <p:cNvSpPr/>
          <p:nvPr/>
        </p:nvSpPr>
        <p:spPr>
          <a:xfrm>
            <a:off x="3200400" y="1938528"/>
            <a:ext cx="3840480" cy="274320"/>
          </a:xfrm>
          <a:prstGeom prst="rect">
            <a:avLst/>
          </a:prstGeom>
          <a:noFill/>
          <a:ln/>
        </p:spPr>
        <p:txBody>
          <a:bodyPr wrap="square" lIns="0" tIns="0" rIns="0" bIns="0" rtlCol="0" anchor="ctr"/>
          <a:lstStyle/>
          <a:p>
            <a:pPr indent="0" marL="0">
              <a:buNone/>
            </a:pPr>
            <a:r>
              <a:rPr lang="en-US" sz="950" spc="180" kern="0" dirty="0">
                <a:solidFill>
                  <a:srgbClr val="8B98A8"/>
                </a:solidFill>
                <a:latin typeface="Calibri" pitchFamily="34" charset="0"/>
                <a:ea typeface="Calibri" pitchFamily="34" charset="-122"/>
                <a:cs typeface="Calibri" pitchFamily="34" charset="-120"/>
              </a:rPr>
              <a:t>WHAT IT LOOKS LIKE</a:t>
            </a:r>
            <a:endParaRPr lang="en-US" sz="950" dirty="0"/>
          </a:p>
        </p:txBody>
      </p:sp>
      <p:sp>
        <p:nvSpPr>
          <p:cNvPr id="8" name="Text 6"/>
          <p:cNvSpPr/>
          <p:nvPr/>
        </p:nvSpPr>
        <p:spPr>
          <a:xfrm>
            <a:off x="7315200" y="1938528"/>
            <a:ext cx="4114800" cy="274320"/>
          </a:xfrm>
          <a:prstGeom prst="rect">
            <a:avLst/>
          </a:prstGeom>
          <a:noFill/>
          <a:ln/>
        </p:spPr>
        <p:txBody>
          <a:bodyPr wrap="square" lIns="0" tIns="0" rIns="0" bIns="0" rtlCol="0" anchor="ctr"/>
          <a:lstStyle/>
          <a:p>
            <a:pPr indent="0" marL="0">
              <a:buNone/>
            </a:pPr>
            <a:r>
              <a:rPr lang="en-US" sz="950" spc="180" kern="0" dirty="0">
                <a:solidFill>
                  <a:srgbClr val="8B98A8"/>
                </a:solidFill>
                <a:latin typeface="Calibri" pitchFamily="34" charset="0"/>
                <a:ea typeface="Calibri" pitchFamily="34" charset="-122"/>
                <a:cs typeface="Calibri" pitchFamily="34" charset="-120"/>
              </a:rPr>
              <a:t>WHAT FIXES IT</a:t>
            </a:r>
            <a:endParaRPr lang="en-US" sz="950" dirty="0"/>
          </a:p>
        </p:txBody>
      </p:sp>
      <p:sp>
        <p:nvSpPr>
          <p:cNvPr id="9" name="Shape 7"/>
          <p:cNvSpPr/>
          <p:nvPr/>
        </p:nvSpPr>
        <p:spPr>
          <a:xfrm>
            <a:off x="502920" y="2286000"/>
            <a:ext cx="11155680" cy="859536"/>
          </a:xfrm>
          <a:prstGeom prst="roundRect">
            <a:avLst>
              <a:gd name="adj" fmla="val 5319"/>
            </a:avLst>
          </a:prstGeom>
          <a:solidFill>
            <a:srgbClr val="171C24"/>
          </a:solidFill>
          <a:ln w="12700">
            <a:solidFill>
              <a:srgbClr val="2A323D"/>
            </a:solidFill>
            <a:prstDash val="solid"/>
          </a:ln>
        </p:spPr>
      </p:sp>
      <p:sp>
        <p:nvSpPr>
          <p:cNvPr id="10" name="Text 8"/>
          <p:cNvSpPr/>
          <p:nvPr/>
        </p:nvSpPr>
        <p:spPr>
          <a:xfrm>
            <a:off x="740664" y="2331720"/>
            <a:ext cx="2377440" cy="768096"/>
          </a:xfrm>
          <a:prstGeom prst="rect">
            <a:avLst/>
          </a:prstGeom>
          <a:noFill/>
          <a:ln/>
        </p:spPr>
        <p:txBody>
          <a:bodyPr wrap="square" lIns="0" tIns="0" rIns="0" bIns="0" rtlCol="0" anchor="ctr"/>
          <a:lstStyle/>
          <a:p>
            <a:pPr indent="0" marL="0">
              <a:buNone/>
            </a:pPr>
            <a:r>
              <a:rPr lang="en-US" sz="1400" b="1" dirty="0">
                <a:solidFill>
                  <a:srgbClr val="E9EDF2"/>
                </a:solidFill>
                <a:latin typeface="Calibri" pitchFamily="34" charset="0"/>
                <a:ea typeface="Calibri" pitchFamily="34" charset="-122"/>
                <a:cs typeface="Calibri" pitchFamily="34" charset="-120"/>
              </a:rPr>
              <a:t>data race</a:t>
            </a:r>
            <a:endParaRPr lang="en-US" sz="1400" dirty="0"/>
          </a:p>
        </p:txBody>
      </p:sp>
      <p:sp>
        <p:nvSpPr>
          <p:cNvPr id="11" name="Text 9"/>
          <p:cNvSpPr/>
          <p:nvPr/>
        </p:nvSpPr>
        <p:spPr>
          <a:xfrm>
            <a:off x="3200400" y="2331720"/>
            <a:ext cx="3931920" cy="768096"/>
          </a:xfrm>
          <a:prstGeom prst="rect">
            <a:avLst/>
          </a:prstGeom>
          <a:noFill/>
          <a:ln/>
        </p:spPr>
        <p:txBody>
          <a:bodyPr wrap="square" lIns="0" tIns="0" rIns="0" bIns="0" rtlCol="0" anchor="ctr"/>
          <a:lstStyle/>
          <a:p>
            <a:pPr indent="0" marL="0">
              <a:lnSpc>
                <a:spcPts val="1500"/>
              </a:lnSpc>
              <a:buNone/>
            </a:pPr>
            <a:r>
              <a:rPr lang="en-US" sz="1150" dirty="0">
                <a:solidFill>
                  <a:srgbClr val="8B98A8"/>
                </a:solidFill>
                <a:latin typeface="Calibri" pitchFamily="34" charset="0"/>
                <a:ea typeface="Calibri" pitchFamily="34" charset="-122"/>
                <a:cs typeface="Calibri" pitchFamily="34" charset="-120"/>
              </a:rPr>
              <a:t>two threads, same bytes, no synchronisation</a:t>
            </a:r>
            <a:endParaRPr lang="en-US" sz="1150" dirty="0"/>
          </a:p>
        </p:txBody>
      </p:sp>
      <p:sp>
        <p:nvSpPr>
          <p:cNvPr id="12" name="Text 10"/>
          <p:cNvSpPr/>
          <p:nvPr/>
        </p:nvSpPr>
        <p:spPr>
          <a:xfrm>
            <a:off x="7315200" y="2331720"/>
            <a:ext cx="4160520" cy="768096"/>
          </a:xfrm>
          <a:prstGeom prst="rect">
            <a:avLst/>
          </a:prstGeom>
          <a:noFill/>
          <a:ln/>
        </p:spPr>
        <p:txBody>
          <a:bodyPr wrap="square" lIns="0" tIns="0" rIns="0" bIns="0" rtlCol="0" anchor="ctr"/>
          <a:lstStyle/>
          <a:p>
            <a:pPr indent="0" marL="0">
              <a:lnSpc>
                <a:spcPts val="1500"/>
              </a:lnSpc>
              <a:buNone/>
            </a:pPr>
            <a:r>
              <a:rPr lang="en-US" sz="1150" dirty="0">
                <a:solidFill>
                  <a:srgbClr val="8B98A8"/>
                </a:solidFill>
                <a:latin typeface="Calibri" pitchFamily="34" charset="0"/>
                <a:ea typeface="Calibri" pitchFamily="34" charset="-122"/>
                <a:cs typeface="Calibri" pitchFamily="34" charset="-120"/>
              </a:rPr>
              <a:t>the compiler. No design effort — I don’t claim credit for it.</a:t>
            </a:r>
            <a:endParaRPr lang="en-US" sz="1150" dirty="0"/>
          </a:p>
        </p:txBody>
      </p:sp>
      <p:sp>
        <p:nvSpPr>
          <p:cNvPr id="13" name="Shape 11"/>
          <p:cNvSpPr/>
          <p:nvPr/>
        </p:nvSpPr>
        <p:spPr>
          <a:xfrm>
            <a:off x="502920" y="3255264"/>
            <a:ext cx="11155680" cy="859536"/>
          </a:xfrm>
          <a:prstGeom prst="roundRect">
            <a:avLst>
              <a:gd name="adj" fmla="val 5319"/>
            </a:avLst>
          </a:prstGeom>
          <a:solidFill>
            <a:srgbClr val="171C24"/>
          </a:solidFill>
          <a:ln w="12700">
            <a:solidFill>
              <a:srgbClr val="2A323D"/>
            </a:solidFill>
            <a:prstDash val="solid"/>
          </a:ln>
        </p:spPr>
      </p:sp>
      <p:sp>
        <p:nvSpPr>
          <p:cNvPr id="14" name="Text 12"/>
          <p:cNvSpPr/>
          <p:nvPr/>
        </p:nvSpPr>
        <p:spPr>
          <a:xfrm>
            <a:off x="740664" y="3300984"/>
            <a:ext cx="2377440" cy="768096"/>
          </a:xfrm>
          <a:prstGeom prst="rect">
            <a:avLst/>
          </a:prstGeom>
          <a:noFill/>
          <a:ln/>
        </p:spPr>
        <p:txBody>
          <a:bodyPr wrap="square" lIns="0" tIns="0" rIns="0" bIns="0" rtlCol="0" anchor="ctr"/>
          <a:lstStyle/>
          <a:p>
            <a:pPr indent="0" marL="0">
              <a:buNone/>
            </a:pPr>
            <a:r>
              <a:rPr lang="en-US" sz="1400" b="1" dirty="0">
                <a:solidFill>
                  <a:srgbClr val="E9EDF2"/>
                </a:solidFill>
                <a:latin typeface="Calibri" pitchFamily="34" charset="0"/>
                <a:ea typeface="Calibri" pitchFamily="34" charset="-122"/>
                <a:cs typeface="Calibri" pitchFamily="34" charset="-120"/>
              </a:rPr>
              <a:t>torn write</a:t>
            </a:r>
            <a:endParaRPr lang="en-US" sz="1400" dirty="0"/>
          </a:p>
        </p:txBody>
      </p:sp>
      <p:sp>
        <p:nvSpPr>
          <p:cNvPr id="15" name="Text 13"/>
          <p:cNvSpPr/>
          <p:nvPr/>
        </p:nvSpPr>
        <p:spPr>
          <a:xfrm>
            <a:off x="3200400" y="3300984"/>
            <a:ext cx="3931920" cy="768096"/>
          </a:xfrm>
          <a:prstGeom prst="rect">
            <a:avLst/>
          </a:prstGeom>
          <a:noFill/>
          <a:ln/>
        </p:spPr>
        <p:txBody>
          <a:bodyPr wrap="square" lIns="0" tIns="0" rIns="0" bIns="0" rtlCol="0" anchor="ctr"/>
          <a:lstStyle/>
          <a:p>
            <a:pPr indent="0" marL="0">
              <a:lnSpc>
                <a:spcPts val="1500"/>
              </a:lnSpc>
              <a:buNone/>
            </a:pPr>
            <a:r>
              <a:rPr lang="en-US" sz="1150" dirty="0">
                <a:solidFill>
                  <a:srgbClr val="8B98A8"/>
                </a:solidFill>
                <a:latin typeface="Calibri" pitchFamily="34" charset="0"/>
                <a:ea typeface="Calibri" pitchFamily="34" charset="-122"/>
                <a:cs typeface="Calibri" pitchFamily="34" charset="-120"/>
              </a:rPr>
              <a:t>new address beside the old phone number</a:t>
            </a:r>
            <a:endParaRPr lang="en-US" sz="1150" dirty="0"/>
          </a:p>
        </p:txBody>
      </p:sp>
      <p:sp>
        <p:nvSpPr>
          <p:cNvPr id="16" name="Text 14"/>
          <p:cNvSpPr/>
          <p:nvPr/>
        </p:nvSpPr>
        <p:spPr>
          <a:xfrm>
            <a:off x="7315200" y="3300984"/>
            <a:ext cx="4160520" cy="768096"/>
          </a:xfrm>
          <a:prstGeom prst="rect">
            <a:avLst/>
          </a:prstGeom>
          <a:noFill/>
          <a:ln/>
        </p:spPr>
        <p:txBody>
          <a:bodyPr wrap="square" lIns="0" tIns="0" rIns="0" bIns="0" rtlCol="0" anchor="ctr"/>
          <a:lstStyle/>
          <a:p>
            <a:pPr indent="0" marL="0">
              <a:lnSpc>
                <a:spcPts val="1500"/>
              </a:lnSpc>
              <a:buNone/>
            </a:pPr>
            <a:r>
              <a:rPr lang="en-US" sz="1150" dirty="0">
                <a:solidFill>
                  <a:srgbClr val="8B98A8"/>
                </a:solidFill>
                <a:latin typeface="Calibri" pitchFamily="34" charset="0"/>
                <a:ea typeface="Calibri" pitchFamily="34" charset="-122"/>
                <a:cs typeface="Calibri" pitchFamily="34" charset="-120"/>
              </a:rPr>
              <a:t>any lock around the record</a:t>
            </a:r>
            <a:endParaRPr lang="en-US" sz="1150" dirty="0"/>
          </a:p>
        </p:txBody>
      </p:sp>
      <p:sp>
        <p:nvSpPr>
          <p:cNvPr id="17" name="Shape 15"/>
          <p:cNvSpPr/>
          <p:nvPr/>
        </p:nvSpPr>
        <p:spPr>
          <a:xfrm>
            <a:off x="502920" y="4224528"/>
            <a:ext cx="11155680" cy="859536"/>
          </a:xfrm>
          <a:prstGeom prst="roundRect">
            <a:avLst>
              <a:gd name="adj" fmla="val 5319"/>
            </a:avLst>
          </a:prstGeom>
          <a:solidFill>
            <a:srgbClr val="221A16"/>
          </a:solidFill>
          <a:ln w="12700">
            <a:solidFill>
              <a:srgbClr val="2A323D"/>
            </a:solidFill>
            <a:prstDash val="solid"/>
          </a:ln>
        </p:spPr>
      </p:sp>
      <p:sp>
        <p:nvSpPr>
          <p:cNvPr id="18" name="Shape 16"/>
          <p:cNvSpPr/>
          <p:nvPr/>
        </p:nvSpPr>
        <p:spPr>
          <a:xfrm>
            <a:off x="502920" y="4224528"/>
            <a:ext cx="11155680" cy="859536"/>
          </a:xfrm>
          <a:prstGeom prst="roundRect">
            <a:avLst>
              <a:gd name="adj" fmla="val 5319"/>
            </a:avLst>
          </a:prstGeom>
          <a:solidFill>
            <a:srgbClr val="221A16"/>
          </a:solidFill>
          <a:ln w="15875">
            <a:solidFill>
              <a:srgbClr val="E86A33"/>
            </a:solidFill>
            <a:prstDash val="solid"/>
          </a:ln>
        </p:spPr>
      </p:sp>
      <p:sp>
        <p:nvSpPr>
          <p:cNvPr id="19" name="Text 17"/>
          <p:cNvSpPr/>
          <p:nvPr/>
        </p:nvSpPr>
        <p:spPr>
          <a:xfrm>
            <a:off x="740664" y="4270248"/>
            <a:ext cx="2377440" cy="768096"/>
          </a:xfrm>
          <a:prstGeom prst="rect">
            <a:avLst/>
          </a:prstGeom>
          <a:noFill/>
          <a:ln/>
        </p:spPr>
        <p:txBody>
          <a:bodyPr wrap="square" lIns="0" tIns="0" rIns="0" bIns="0" rtlCol="0" anchor="ctr"/>
          <a:lstStyle/>
          <a:p>
            <a:pPr indent="0" marL="0">
              <a:buNone/>
            </a:pPr>
            <a:r>
              <a:rPr lang="en-US" sz="1400" b="1" dirty="0">
                <a:solidFill>
                  <a:srgbClr val="E86A33"/>
                </a:solidFill>
                <a:latin typeface="Calibri" pitchFamily="34" charset="0"/>
                <a:ea typeface="Calibri" pitchFamily="34" charset="-122"/>
                <a:cs typeface="Calibri" pitchFamily="34" charset="-120"/>
              </a:rPr>
              <a:t>lost update</a:t>
            </a:r>
            <a:endParaRPr lang="en-US" sz="1400" dirty="0"/>
          </a:p>
        </p:txBody>
      </p:sp>
      <p:sp>
        <p:nvSpPr>
          <p:cNvPr id="20" name="Text 18"/>
          <p:cNvSpPr/>
          <p:nvPr/>
        </p:nvSpPr>
        <p:spPr>
          <a:xfrm>
            <a:off x="3200400" y="4270248"/>
            <a:ext cx="3931920" cy="768096"/>
          </a:xfrm>
          <a:prstGeom prst="rect">
            <a:avLst/>
          </a:prstGeom>
          <a:noFill/>
          <a:ln/>
        </p:spPr>
        <p:txBody>
          <a:bodyPr wrap="square" lIns="0" tIns="0" rIns="0" bIns="0" rtlCol="0" anchor="ctr"/>
          <a:lstStyle/>
          <a:p>
            <a:pPr indent="0" marL="0">
              <a:lnSpc>
                <a:spcPts val="1500"/>
              </a:lnSpc>
              <a:buNone/>
            </a:pPr>
            <a:r>
              <a:rPr lang="en-US" sz="1150" dirty="0">
                <a:solidFill>
                  <a:srgbClr val="8B98A8"/>
                </a:solidFill>
                <a:latin typeface="Calibri" pitchFamily="34" charset="0"/>
                <a:ea typeface="Calibri" pitchFamily="34" charset="-122"/>
                <a:cs typeface="Calibri" pitchFamily="34" charset="-120"/>
              </a:rPr>
              <a:t>two clients edit v4, second silently erases the first, both get 200</a:t>
            </a:r>
            <a:endParaRPr lang="en-US" sz="1150" dirty="0"/>
          </a:p>
        </p:txBody>
      </p:sp>
      <p:sp>
        <p:nvSpPr>
          <p:cNvPr id="21" name="Text 19"/>
          <p:cNvSpPr/>
          <p:nvPr/>
        </p:nvSpPr>
        <p:spPr>
          <a:xfrm>
            <a:off x="7315200" y="4270248"/>
            <a:ext cx="4160520" cy="768096"/>
          </a:xfrm>
          <a:prstGeom prst="rect">
            <a:avLst/>
          </a:prstGeom>
          <a:noFill/>
          <a:ln/>
        </p:spPr>
        <p:txBody>
          <a:bodyPr wrap="square" lIns="0" tIns="0" rIns="0" bIns="0" rtlCol="0" anchor="ctr"/>
          <a:lstStyle/>
          <a:p>
            <a:pPr indent="0" marL="0">
              <a:lnSpc>
                <a:spcPts val="1500"/>
              </a:lnSpc>
              <a:buNone/>
            </a:pPr>
            <a:r>
              <a:rPr lang="en-US" sz="1150" dirty="0">
                <a:solidFill>
                  <a:srgbClr val="E9EDF2"/>
                </a:solidFill>
                <a:latin typeface="Calibri" pitchFamily="34" charset="0"/>
                <a:ea typeface="Calibri" pitchFamily="34" charset="-122"/>
                <a:cs typeface="Calibri" pitchFamily="34" charset="-120"/>
              </a:rPr>
              <a:t>no lock can fix this — the window spans two round-trips with human think-time in it</a:t>
            </a:r>
            <a:endParaRPr lang="en-US" sz="1150" dirty="0"/>
          </a:p>
        </p:txBody>
      </p:sp>
      <p:sp>
        <p:nvSpPr>
          <p:cNvPr id="22" name="Shape 20"/>
          <p:cNvSpPr/>
          <p:nvPr/>
        </p:nvSpPr>
        <p:spPr>
          <a:xfrm>
            <a:off x="502920" y="5349240"/>
            <a:ext cx="5394960" cy="1005840"/>
          </a:xfrm>
          <a:prstGeom prst="roundRect">
            <a:avLst>
              <a:gd name="adj" fmla="val 4545"/>
            </a:avLst>
          </a:prstGeom>
          <a:solidFill>
            <a:srgbClr val="171C24"/>
          </a:solidFill>
          <a:ln w="12700">
            <a:solidFill>
              <a:srgbClr val="2A323D"/>
            </a:solidFill>
            <a:prstDash val="solid"/>
          </a:ln>
        </p:spPr>
      </p:sp>
      <p:sp>
        <p:nvSpPr>
          <p:cNvPr id="23" name="Text 21"/>
          <p:cNvSpPr/>
          <p:nvPr/>
        </p:nvSpPr>
        <p:spPr>
          <a:xfrm>
            <a:off x="740664" y="5468112"/>
            <a:ext cx="4937760" cy="292608"/>
          </a:xfrm>
          <a:prstGeom prst="rect">
            <a:avLst/>
          </a:prstGeom>
          <a:noFill/>
          <a:ln/>
        </p:spPr>
        <p:txBody>
          <a:bodyPr wrap="square" lIns="0" tIns="0" rIns="0" bIns="0" rtlCol="0" anchor="ctr"/>
          <a:lstStyle/>
          <a:p>
            <a:pPr indent="0" marL="0">
              <a:buNone/>
            </a:pPr>
            <a:r>
              <a:rPr lang="en-US" sz="1250" b="1" dirty="0">
                <a:solidFill>
                  <a:srgbClr val="3FB9A0"/>
                </a:solidFill>
                <a:latin typeface="Calibri" pitchFamily="34" charset="0"/>
                <a:ea typeface="Calibri" pitchFamily="34" charset="-122"/>
                <a:cs typeface="Calibri" pitchFamily="34" charset="-120"/>
              </a:rPr>
              <a:t>Why a mutex isn’t the answer</a:t>
            </a:r>
            <a:endParaRPr lang="en-US" sz="1250" dirty="0"/>
          </a:p>
        </p:txBody>
      </p:sp>
      <p:sp>
        <p:nvSpPr>
          <p:cNvPr id="24" name="Text 22"/>
          <p:cNvSpPr/>
          <p:nvPr/>
        </p:nvSpPr>
        <p:spPr>
          <a:xfrm>
            <a:off x="740664" y="5760720"/>
            <a:ext cx="4937760" cy="530352"/>
          </a:xfrm>
          <a:prstGeom prst="rect">
            <a:avLst/>
          </a:prstGeom>
          <a:noFill/>
          <a:ln/>
        </p:spPr>
        <p:txBody>
          <a:bodyPr wrap="square" lIns="0" tIns="0" rIns="0" bIns="0" rtlCol="0" anchor="ctr"/>
          <a:lstStyle/>
          <a:p>
            <a:pPr indent="0" marL="0">
              <a:lnSpc>
                <a:spcPts val="1400"/>
              </a:lnSpc>
              <a:buNone/>
            </a:pPr>
            <a:r>
              <a:rPr lang="en-US" sz="1100" dirty="0">
                <a:solidFill>
                  <a:srgbClr val="8B98A8"/>
                </a:solidFill>
                <a:latin typeface="Calibri" pitchFamily="34" charset="0"/>
                <a:ea typeface="Calibri" pitchFamily="34" charset="-122"/>
                <a:cs typeface="Calibri" pitchFamily="34" charset="-120"/>
              </a:rPr>
              <a:t>You cannot hold a lock across a user’s coffee break. The read and the write are separate requests.</a:t>
            </a:r>
            <a:endParaRPr lang="en-US" sz="1100" dirty="0"/>
          </a:p>
        </p:txBody>
      </p:sp>
      <p:sp>
        <p:nvSpPr>
          <p:cNvPr id="25" name="Shape 23"/>
          <p:cNvSpPr/>
          <p:nvPr/>
        </p:nvSpPr>
        <p:spPr>
          <a:xfrm>
            <a:off x="6172200" y="5349240"/>
            <a:ext cx="5394960" cy="1005840"/>
          </a:xfrm>
          <a:prstGeom prst="roundRect">
            <a:avLst>
              <a:gd name="adj" fmla="val 4545"/>
            </a:avLst>
          </a:prstGeom>
          <a:solidFill>
            <a:srgbClr val="171C24"/>
          </a:solidFill>
          <a:ln w="12700">
            <a:solidFill>
              <a:srgbClr val="2A323D"/>
            </a:solidFill>
            <a:prstDash val="solid"/>
          </a:ln>
        </p:spPr>
      </p:sp>
      <p:sp>
        <p:nvSpPr>
          <p:cNvPr id="26" name="Text 24"/>
          <p:cNvSpPr/>
          <p:nvPr/>
        </p:nvSpPr>
        <p:spPr>
          <a:xfrm>
            <a:off x="6409944" y="5468112"/>
            <a:ext cx="4937760" cy="292608"/>
          </a:xfrm>
          <a:prstGeom prst="rect">
            <a:avLst/>
          </a:prstGeom>
          <a:noFill/>
          <a:ln/>
        </p:spPr>
        <p:txBody>
          <a:bodyPr wrap="square" lIns="0" tIns="0" rIns="0" bIns="0" rtlCol="0" anchor="ctr"/>
          <a:lstStyle/>
          <a:p>
            <a:pPr indent="0" marL="0">
              <a:buNone/>
            </a:pPr>
            <a:r>
              <a:rPr lang="en-US" sz="1250" b="1" dirty="0">
                <a:solidFill>
                  <a:srgbClr val="3FB9A0"/>
                </a:solidFill>
                <a:latin typeface="Calibri" pitchFamily="34" charset="0"/>
                <a:ea typeface="Calibri" pitchFamily="34" charset="-122"/>
                <a:cs typeface="Calibri" pitchFamily="34" charset="-120"/>
              </a:rPr>
              <a:t>What is</a:t>
            </a:r>
            <a:endParaRPr lang="en-US" sz="1250" dirty="0"/>
          </a:p>
        </p:txBody>
      </p:sp>
      <p:sp>
        <p:nvSpPr>
          <p:cNvPr id="27" name="Text 25"/>
          <p:cNvSpPr/>
          <p:nvPr/>
        </p:nvSpPr>
        <p:spPr>
          <a:xfrm>
            <a:off x="6409944" y="5760720"/>
            <a:ext cx="4937760" cy="530352"/>
          </a:xfrm>
          <a:prstGeom prst="rect">
            <a:avLst/>
          </a:prstGeom>
          <a:noFill/>
          <a:ln/>
        </p:spPr>
        <p:txBody>
          <a:bodyPr wrap="square" lIns="0" tIns="0" rIns="0" bIns="0" rtlCol="0" anchor="ctr"/>
          <a:lstStyle/>
          <a:p>
            <a:pPr indent="0" marL="0">
              <a:lnSpc>
                <a:spcPts val="1400"/>
              </a:lnSpc>
              <a:buNone/>
            </a:pPr>
            <a:r>
              <a:rPr lang="en-US" sz="1100" dirty="0">
                <a:solidFill>
                  <a:srgbClr val="8B98A8"/>
                </a:solidFill>
                <a:latin typeface="Calibri" pitchFamily="34" charset="0"/>
                <a:ea typeface="Calibri" pitchFamily="34" charset="-122"/>
                <a:cs typeface="Calibri" pitchFamily="34" charset="-120"/>
              </a:rPr>
              <a:t>Optimistic concurrency. The record carries a version; a writer states which version it believes it is replacing; a stale belief is refused.</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02920" y="438912"/>
            <a:ext cx="420624" cy="420624"/>
          </a:xfrm>
          <a:prstGeom prst="ellipse">
            <a:avLst/>
          </a:prstGeom>
          <a:solidFill>
            <a:srgbClr val="E86A33"/>
          </a:solidFill>
          <a:ln/>
        </p:spPr>
      </p:sp>
      <p:sp>
        <p:nvSpPr>
          <p:cNvPr id="3" name="Text 1"/>
          <p:cNvSpPr/>
          <p:nvPr/>
        </p:nvSpPr>
        <p:spPr>
          <a:xfrm>
            <a:off x="502920" y="438912"/>
            <a:ext cx="420624" cy="420624"/>
          </a:xfrm>
          <a:prstGeom prst="rect">
            <a:avLst/>
          </a:prstGeom>
          <a:noFill/>
          <a:ln/>
        </p:spPr>
        <p:txBody>
          <a:bodyPr wrap="square" lIns="0" tIns="0" rIns="0" bIns="0" rtlCol="0" anchor="ctr"/>
          <a:lstStyle/>
          <a:p>
            <a:pPr algn="ctr" indent="0" marL="0">
              <a:buNone/>
            </a:pPr>
            <a:r>
              <a:rPr lang="en-US" sz="1300" b="1" dirty="0">
                <a:solidFill>
                  <a:srgbClr val="0E1116"/>
                </a:solidFill>
                <a:latin typeface="Calibri" pitchFamily="34" charset="0"/>
                <a:ea typeface="Calibri" pitchFamily="34" charset="-122"/>
                <a:cs typeface="Calibri" pitchFamily="34" charset="-120"/>
              </a:rPr>
              <a:t>04</a:t>
            </a:r>
            <a:endParaRPr lang="en-US" sz="1300" dirty="0"/>
          </a:p>
        </p:txBody>
      </p:sp>
      <p:sp>
        <p:nvSpPr>
          <p:cNvPr id="4" name="Text 2"/>
          <p:cNvSpPr/>
          <p:nvPr/>
        </p:nvSpPr>
        <p:spPr>
          <a:xfrm>
            <a:off x="1106424" y="438912"/>
            <a:ext cx="8229600" cy="420624"/>
          </a:xfrm>
          <a:prstGeom prst="rect">
            <a:avLst/>
          </a:prstGeom>
          <a:noFill/>
          <a:ln/>
        </p:spPr>
        <p:txBody>
          <a:bodyPr wrap="square" lIns="0" tIns="0" rIns="0" bIns="0" rtlCol="0" anchor="ctr"/>
          <a:lstStyle/>
          <a:p>
            <a:pPr indent="0" marL="0">
              <a:buNone/>
            </a:pPr>
            <a:r>
              <a:rPr lang="en-US" sz="1100" spc="240" kern="0" dirty="0">
                <a:solidFill>
                  <a:srgbClr val="8B98A8"/>
                </a:solidFill>
                <a:latin typeface="Calibri" pitchFamily="34" charset="0"/>
                <a:ea typeface="Calibri" pitchFamily="34" charset="-122"/>
                <a:cs typeface="Calibri" pitchFamily="34" charset="-120"/>
              </a:rPr>
              <a:t>THE DECISION</a:t>
            </a:r>
            <a:endParaRPr lang="en-US" sz="1100" dirty="0"/>
          </a:p>
        </p:txBody>
      </p:sp>
      <p:sp>
        <p:nvSpPr>
          <p:cNvPr id="5" name="Text 3"/>
          <p:cNvSpPr/>
          <p:nvPr/>
        </p:nvSpPr>
        <p:spPr>
          <a:xfrm>
            <a:off x="502920" y="1024128"/>
            <a:ext cx="11155680" cy="841248"/>
          </a:xfrm>
          <a:prstGeom prst="rect">
            <a:avLst/>
          </a:prstGeom>
          <a:noFill/>
          <a:ln/>
        </p:spPr>
        <p:txBody>
          <a:bodyPr wrap="square" lIns="0" tIns="0" rIns="0" bIns="0" rtlCol="0" anchor="t"/>
          <a:lstStyle/>
          <a:p>
            <a:pPr indent="0" marL="0">
              <a:buNone/>
            </a:pPr>
            <a:r>
              <a:rPr lang="en-US" sz="3300" b="1" dirty="0">
                <a:solidFill>
                  <a:srgbClr val="E9EDF2"/>
                </a:solidFill>
                <a:latin typeface="Cambria" pitchFamily="34" charset="0"/>
                <a:ea typeface="Cambria" pitchFamily="34" charset="-122"/>
                <a:cs typeface="Cambria" pitchFamily="34" charset="-120"/>
              </a:rPr>
              <a:t>If-Match is mandatory, not optional.</a:t>
            </a:r>
            <a:endParaRPr lang="en-US" sz="3300" dirty="0"/>
          </a:p>
        </p:txBody>
      </p:sp>
      <p:sp>
        <p:nvSpPr>
          <p:cNvPr id="6" name="Shape 4"/>
          <p:cNvSpPr/>
          <p:nvPr/>
        </p:nvSpPr>
        <p:spPr>
          <a:xfrm>
            <a:off x="502920" y="2011680"/>
            <a:ext cx="11155680" cy="658368"/>
          </a:xfrm>
          <a:prstGeom prst="roundRect">
            <a:avLst>
              <a:gd name="adj" fmla="val 6944"/>
            </a:avLst>
          </a:prstGeom>
          <a:solidFill>
            <a:srgbClr val="171C24"/>
          </a:solidFill>
          <a:ln w="12700">
            <a:solidFill>
              <a:srgbClr val="2A323D"/>
            </a:solidFill>
            <a:prstDash val="solid"/>
          </a:ln>
        </p:spPr>
      </p:sp>
      <p:sp>
        <p:nvSpPr>
          <p:cNvPr id="7" name="Shape 5"/>
          <p:cNvSpPr/>
          <p:nvPr/>
        </p:nvSpPr>
        <p:spPr>
          <a:xfrm>
            <a:off x="704088" y="2167128"/>
            <a:ext cx="713232" cy="347472"/>
          </a:xfrm>
          <a:prstGeom prst="roundRect">
            <a:avLst>
              <a:gd name="adj" fmla="val 10526"/>
            </a:avLst>
          </a:prstGeom>
          <a:solidFill>
            <a:srgbClr val="232B36"/>
          </a:solidFill>
          <a:ln/>
        </p:spPr>
      </p:sp>
      <p:sp>
        <p:nvSpPr>
          <p:cNvPr id="8" name="Text 6"/>
          <p:cNvSpPr/>
          <p:nvPr/>
        </p:nvSpPr>
        <p:spPr>
          <a:xfrm>
            <a:off x="704088" y="2167128"/>
            <a:ext cx="713232" cy="347472"/>
          </a:xfrm>
          <a:prstGeom prst="rect">
            <a:avLst/>
          </a:prstGeom>
          <a:noFill/>
          <a:ln/>
        </p:spPr>
        <p:txBody>
          <a:bodyPr wrap="square" lIns="0" tIns="0" rIns="0" bIns="0" rtlCol="0" anchor="ctr"/>
          <a:lstStyle/>
          <a:p>
            <a:pPr algn="ctr" indent="0" marL="0">
              <a:buNone/>
            </a:pPr>
            <a:r>
              <a:rPr lang="en-US" sz="1100" b="1" dirty="0">
                <a:solidFill>
                  <a:srgbClr val="E9EDF2"/>
                </a:solidFill>
                <a:latin typeface="Calibri" pitchFamily="34" charset="0"/>
                <a:ea typeface="Calibri" pitchFamily="34" charset="-122"/>
                <a:cs typeface="Calibri" pitchFamily="34" charset="-120"/>
              </a:rPr>
              <a:t>A + B</a:t>
            </a:r>
            <a:endParaRPr lang="en-US" sz="1100" dirty="0"/>
          </a:p>
        </p:txBody>
      </p:sp>
      <p:sp>
        <p:nvSpPr>
          <p:cNvPr id="9" name="Text 7"/>
          <p:cNvSpPr/>
          <p:nvPr/>
        </p:nvSpPr>
        <p:spPr>
          <a:xfrm>
            <a:off x="1554480" y="2011680"/>
            <a:ext cx="4754880" cy="658368"/>
          </a:xfrm>
          <a:prstGeom prst="rect">
            <a:avLst/>
          </a:prstGeom>
          <a:noFill/>
          <a:ln/>
        </p:spPr>
        <p:txBody>
          <a:bodyPr wrap="square" lIns="0" tIns="0" rIns="0" bIns="0" rtlCol="0" anchor="ctr"/>
          <a:lstStyle/>
          <a:p>
            <a:pPr indent="0" marL="0">
              <a:buNone/>
            </a:pPr>
            <a:r>
              <a:rPr lang="en-US" sz="1300" dirty="0">
                <a:solidFill>
                  <a:srgbClr val="C7D0DB"/>
                </a:solidFill>
                <a:latin typeface="Courier New" pitchFamily="34" charset="0"/>
                <a:ea typeface="Courier New" pitchFamily="34" charset="-122"/>
                <a:cs typeface="Courier New" pitchFamily="34" charset="-120"/>
              </a:rPr>
              <a:t>GET /profile</a:t>
            </a:r>
            <a:endParaRPr lang="en-US" sz="1300" dirty="0"/>
          </a:p>
        </p:txBody>
      </p:sp>
      <p:sp>
        <p:nvSpPr>
          <p:cNvPr id="10" name="Text 8"/>
          <p:cNvSpPr/>
          <p:nvPr/>
        </p:nvSpPr>
        <p:spPr>
          <a:xfrm>
            <a:off x="6766560" y="2011680"/>
            <a:ext cx="4709160" cy="658368"/>
          </a:xfrm>
          <a:prstGeom prst="rect">
            <a:avLst/>
          </a:prstGeom>
          <a:noFill/>
          <a:ln/>
        </p:spPr>
        <p:txBody>
          <a:bodyPr wrap="square" lIns="0" tIns="0" rIns="0" bIns="0" rtlCol="0" anchor="ctr"/>
          <a:lstStyle/>
          <a:p>
            <a:pPr algn="r" indent="0" marL="0">
              <a:buNone/>
            </a:pPr>
            <a:r>
              <a:rPr lang="en-US" sz="1350" b="1" dirty="0">
                <a:solidFill>
                  <a:srgbClr val="8B98A8"/>
                </a:solidFill>
                <a:latin typeface="Courier New" pitchFamily="34" charset="0"/>
                <a:ea typeface="Courier New" pitchFamily="34" charset="-122"/>
                <a:cs typeface="Courier New" pitchFamily="34" charset="-120"/>
              </a:rPr>
              <a:t>both read v4</a:t>
            </a:r>
            <a:endParaRPr lang="en-US" sz="1350" dirty="0"/>
          </a:p>
        </p:txBody>
      </p:sp>
      <p:sp>
        <p:nvSpPr>
          <p:cNvPr id="11" name="Shape 9"/>
          <p:cNvSpPr/>
          <p:nvPr/>
        </p:nvSpPr>
        <p:spPr>
          <a:xfrm>
            <a:off x="502920" y="2798064"/>
            <a:ext cx="11155680" cy="658368"/>
          </a:xfrm>
          <a:prstGeom prst="roundRect">
            <a:avLst>
              <a:gd name="adj" fmla="val 6944"/>
            </a:avLst>
          </a:prstGeom>
          <a:solidFill>
            <a:srgbClr val="171C24"/>
          </a:solidFill>
          <a:ln w="12700">
            <a:solidFill>
              <a:srgbClr val="2A323D"/>
            </a:solidFill>
            <a:prstDash val="solid"/>
          </a:ln>
        </p:spPr>
      </p:sp>
      <p:sp>
        <p:nvSpPr>
          <p:cNvPr id="12" name="Shape 10"/>
          <p:cNvSpPr/>
          <p:nvPr/>
        </p:nvSpPr>
        <p:spPr>
          <a:xfrm>
            <a:off x="704088" y="2953512"/>
            <a:ext cx="713232" cy="347472"/>
          </a:xfrm>
          <a:prstGeom prst="roundRect">
            <a:avLst>
              <a:gd name="adj" fmla="val 10526"/>
            </a:avLst>
          </a:prstGeom>
          <a:solidFill>
            <a:srgbClr val="3FB9A0"/>
          </a:solidFill>
          <a:ln/>
        </p:spPr>
      </p:sp>
      <p:sp>
        <p:nvSpPr>
          <p:cNvPr id="13" name="Text 11"/>
          <p:cNvSpPr/>
          <p:nvPr/>
        </p:nvSpPr>
        <p:spPr>
          <a:xfrm>
            <a:off x="704088" y="2953512"/>
            <a:ext cx="713232" cy="347472"/>
          </a:xfrm>
          <a:prstGeom prst="rect">
            <a:avLst/>
          </a:prstGeom>
          <a:noFill/>
          <a:ln/>
        </p:spPr>
        <p:txBody>
          <a:bodyPr wrap="square" lIns="0" tIns="0" rIns="0" bIns="0" rtlCol="0" anchor="ctr"/>
          <a:lstStyle/>
          <a:p>
            <a:pPr algn="ctr" indent="0" marL="0">
              <a:buNone/>
            </a:pPr>
            <a:r>
              <a:rPr lang="en-US" sz="1100" b="1" dirty="0">
                <a:solidFill>
                  <a:srgbClr val="0E1116"/>
                </a:solidFill>
                <a:latin typeface="Calibri" pitchFamily="34" charset="0"/>
                <a:ea typeface="Calibri" pitchFamily="34" charset="-122"/>
                <a:cs typeface="Calibri" pitchFamily="34" charset="-120"/>
              </a:rPr>
              <a:t>A</a:t>
            </a:r>
            <a:endParaRPr lang="en-US" sz="1100" dirty="0"/>
          </a:p>
        </p:txBody>
      </p:sp>
      <p:sp>
        <p:nvSpPr>
          <p:cNvPr id="14" name="Text 12"/>
          <p:cNvSpPr/>
          <p:nvPr/>
        </p:nvSpPr>
        <p:spPr>
          <a:xfrm>
            <a:off x="1554480" y="2798064"/>
            <a:ext cx="4754880" cy="658368"/>
          </a:xfrm>
          <a:prstGeom prst="rect">
            <a:avLst/>
          </a:prstGeom>
          <a:noFill/>
          <a:ln/>
        </p:spPr>
        <p:txBody>
          <a:bodyPr wrap="square" lIns="0" tIns="0" rIns="0" bIns="0" rtlCol="0" anchor="ctr"/>
          <a:lstStyle/>
          <a:p>
            <a:pPr indent="0" marL="0">
              <a:buNone/>
            </a:pPr>
            <a:r>
              <a:rPr lang="en-US" sz="1300" dirty="0">
                <a:solidFill>
                  <a:srgbClr val="C7D0DB"/>
                </a:solidFill>
                <a:latin typeface="Courier New" pitchFamily="34" charset="0"/>
                <a:ea typeface="Courier New" pitchFamily="34" charset="-122"/>
                <a:cs typeface="Courier New" pitchFamily="34" charset="-120"/>
              </a:rPr>
              <a:t>PUT  If-Match "4"</a:t>
            </a:r>
            <a:endParaRPr lang="en-US" sz="1300" dirty="0"/>
          </a:p>
        </p:txBody>
      </p:sp>
      <p:sp>
        <p:nvSpPr>
          <p:cNvPr id="15" name="Text 13"/>
          <p:cNvSpPr/>
          <p:nvPr/>
        </p:nvSpPr>
        <p:spPr>
          <a:xfrm>
            <a:off x="6766560" y="2798064"/>
            <a:ext cx="4709160" cy="658368"/>
          </a:xfrm>
          <a:prstGeom prst="rect">
            <a:avLst/>
          </a:prstGeom>
          <a:noFill/>
          <a:ln/>
        </p:spPr>
        <p:txBody>
          <a:bodyPr wrap="square" lIns="0" tIns="0" rIns="0" bIns="0" rtlCol="0" anchor="ctr"/>
          <a:lstStyle/>
          <a:p>
            <a:pPr algn="r" indent="0" marL="0">
              <a:buNone/>
            </a:pPr>
            <a:r>
              <a:rPr lang="en-US" sz="1350" b="1" dirty="0">
                <a:solidFill>
                  <a:srgbClr val="3FB9A0"/>
                </a:solidFill>
                <a:latin typeface="Courier New" pitchFamily="34" charset="0"/>
                <a:ea typeface="Courier New" pitchFamily="34" charset="-122"/>
                <a:cs typeface="Courier New" pitchFamily="34" charset="-120"/>
              </a:rPr>
              <a:t>200 · now v5</a:t>
            </a:r>
            <a:endParaRPr lang="en-US" sz="1350" dirty="0"/>
          </a:p>
        </p:txBody>
      </p:sp>
      <p:sp>
        <p:nvSpPr>
          <p:cNvPr id="16" name="Text 14"/>
          <p:cNvSpPr/>
          <p:nvPr/>
        </p:nvSpPr>
        <p:spPr>
          <a:xfrm>
            <a:off x="1554480" y="3639312"/>
            <a:ext cx="8686800" cy="502920"/>
          </a:xfrm>
          <a:prstGeom prst="rect">
            <a:avLst/>
          </a:prstGeom>
          <a:noFill/>
          <a:ln/>
        </p:spPr>
        <p:txBody>
          <a:bodyPr wrap="square" lIns="0" tIns="0" rIns="0" bIns="0" rtlCol="0" anchor="ctr"/>
          <a:lstStyle/>
          <a:p>
            <a:pPr indent="0" marL="0">
              <a:buNone/>
            </a:pPr>
            <a:r>
              <a:rPr lang="en-US" sz="1150" i="1" dirty="0">
                <a:solidFill>
                  <a:srgbClr val="8B98A8"/>
                </a:solidFill>
                <a:latin typeface="Calibri" pitchFamily="34" charset="0"/>
                <a:ea typeface="Calibri" pitchFamily="34" charset="-122"/>
                <a:cs typeface="Calibri" pitchFamily="34" charset="-120"/>
              </a:rPr>
              <a:t>version advances here — B’s belief is now stale</a:t>
            </a:r>
            <a:endParaRPr lang="en-US" sz="1150" dirty="0"/>
          </a:p>
        </p:txBody>
      </p:sp>
      <p:sp>
        <p:nvSpPr>
          <p:cNvPr id="17" name="Shape 15"/>
          <p:cNvSpPr/>
          <p:nvPr/>
        </p:nvSpPr>
        <p:spPr>
          <a:xfrm>
            <a:off x="502920" y="4370832"/>
            <a:ext cx="11155680" cy="658368"/>
          </a:xfrm>
          <a:prstGeom prst="roundRect">
            <a:avLst>
              <a:gd name="adj" fmla="val 6944"/>
            </a:avLst>
          </a:prstGeom>
          <a:solidFill>
            <a:srgbClr val="171C24"/>
          </a:solidFill>
          <a:ln w="12700">
            <a:solidFill>
              <a:srgbClr val="2A323D"/>
            </a:solidFill>
            <a:prstDash val="solid"/>
          </a:ln>
        </p:spPr>
      </p:sp>
      <p:sp>
        <p:nvSpPr>
          <p:cNvPr id="18" name="Shape 16"/>
          <p:cNvSpPr/>
          <p:nvPr/>
        </p:nvSpPr>
        <p:spPr>
          <a:xfrm>
            <a:off x="704088" y="4526280"/>
            <a:ext cx="713232" cy="347472"/>
          </a:xfrm>
          <a:prstGeom prst="roundRect">
            <a:avLst>
              <a:gd name="adj" fmla="val 10526"/>
            </a:avLst>
          </a:prstGeom>
          <a:solidFill>
            <a:srgbClr val="E86A33"/>
          </a:solidFill>
          <a:ln/>
        </p:spPr>
      </p:sp>
      <p:sp>
        <p:nvSpPr>
          <p:cNvPr id="19" name="Text 17"/>
          <p:cNvSpPr/>
          <p:nvPr/>
        </p:nvSpPr>
        <p:spPr>
          <a:xfrm>
            <a:off x="704088" y="4526280"/>
            <a:ext cx="713232" cy="347472"/>
          </a:xfrm>
          <a:prstGeom prst="rect">
            <a:avLst/>
          </a:prstGeom>
          <a:noFill/>
          <a:ln/>
        </p:spPr>
        <p:txBody>
          <a:bodyPr wrap="square" lIns="0" tIns="0" rIns="0" bIns="0" rtlCol="0" anchor="ctr"/>
          <a:lstStyle/>
          <a:p>
            <a:pPr algn="ctr" indent="0" marL="0">
              <a:buNone/>
            </a:pPr>
            <a:r>
              <a:rPr lang="en-US" sz="1100" b="1" dirty="0">
                <a:solidFill>
                  <a:srgbClr val="0E1116"/>
                </a:solidFill>
                <a:latin typeface="Calibri" pitchFamily="34" charset="0"/>
                <a:ea typeface="Calibri" pitchFamily="34" charset="-122"/>
                <a:cs typeface="Calibri" pitchFamily="34" charset="-120"/>
              </a:rPr>
              <a:t>B</a:t>
            </a:r>
            <a:endParaRPr lang="en-US" sz="1100" dirty="0"/>
          </a:p>
        </p:txBody>
      </p:sp>
      <p:sp>
        <p:nvSpPr>
          <p:cNvPr id="20" name="Text 18"/>
          <p:cNvSpPr/>
          <p:nvPr/>
        </p:nvSpPr>
        <p:spPr>
          <a:xfrm>
            <a:off x="1554480" y="4370832"/>
            <a:ext cx="4754880" cy="658368"/>
          </a:xfrm>
          <a:prstGeom prst="rect">
            <a:avLst/>
          </a:prstGeom>
          <a:noFill/>
          <a:ln/>
        </p:spPr>
        <p:txBody>
          <a:bodyPr wrap="square" lIns="0" tIns="0" rIns="0" bIns="0" rtlCol="0" anchor="ctr"/>
          <a:lstStyle/>
          <a:p>
            <a:pPr indent="0" marL="0">
              <a:buNone/>
            </a:pPr>
            <a:r>
              <a:rPr lang="en-US" sz="1300" dirty="0">
                <a:solidFill>
                  <a:srgbClr val="C7D0DB"/>
                </a:solidFill>
                <a:latin typeface="Courier New" pitchFamily="34" charset="0"/>
                <a:ea typeface="Courier New" pitchFamily="34" charset="-122"/>
                <a:cs typeface="Courier New" pitchFamily="34" charset="-120"/>
              </a:rPr>
              <a:t>PUT  If-Match "4"</a:t>
            </a:r>
            <a:endParaRPr lang="en-US" sz="1300" dirty="0"/>
          </a:p>
        </p:txBody>
      </p:sp>
      <p:sp>
        <p:nvSpPr>
          <p:cNvPr id="21" name="Text 19"/>
          <p:cNvSpPr/>
          <p:nvPr/>
        </p:nvSpPr>
        <p:spPr>
          <a:xfrm>
            <a:off x="6766560" y="4370832"/>
            <a:ext cx="4709160" cy="658368"/>
          </a:xfrm>
          <a:prstGeom prst="rect">
            <a:avLst/>
          </a:prstGeom>
          <a:noFill/>
          <a:ln/>
        </p:spPr>
        <p:txBody>
          <a:bodyPr wrap="square" lIns="0" tIns="0" rIns="0" bIns="0" rtlCol="0" anchor="ctr"/>
          <a:lstStyle/>
          <a:p>
            <a:pPr algn="r" indent="0" marL="0">
              <a:buNone/>
            </a:pPr>
            <a:r>
              <a:rPr lang="en-US" sz="1350" b="1" dirty="0">
                <a:solidFill>
                  <a:srgbClr val="E86A33"/>
                </a:solidFill>
                <a:latin typeface="Courier New" pitchFamily="34" charset="0"/>
                <a:ea typeface="Courier New" pitchFamily="34" charset="-122"/>
                <a:cs typeface="Courier New" pitchFamily="34" charset="-120"/>
              </a:rPr>
              <a:t>412 · ETag "5"</a:t>
            </a:r>
            <a:endParaRPr lang="en-US" sz="1350" dirty="0"/>
          </a:p>
        </p:txBody>
      </p:sp>
      <p:sp>
        <p:nvSpPr>
          <p:cNvPr id="22" name="Shape 20"/>
          <p:cNvSpPr/>
          <p:nvPr/>
        </p:nvSpPr>
        <p:spPr>
          <a:xfrm>
            <a:off x="502920" y="5230368"/>
            <a:ext cx="3520440" cy="1143000"/>
          </a:xfrm>
          <a:prstGeom prst="roundRect">
            <a:avLst>
              <a:gd name="adj" fmla="val 4000"/>
            </a:avLst>
          </a:prstGeom>
          <a:solidFill>
            <a:srgbClr val="171C24"/>
          </a:solidFill>
          <a:ln w="12700">
            <a:solidFill>
              <a:srgbClr val="2A323D"/>
            </a:solidFill>
            <a:prstDash val="solid"/>
          </a:ln>
        </p:spPr>
      </p:sp>
      <p:sp>
        <p:nvSpPr>
          <p:cNvPr id="23" name="Text 21"/>
          <p:cNvSpPr/>
          <p:nvPr/>
        </p:nvSpPr>
        <p:spPr>
          <a:xfrm>
            <a:off x="722376" y="5349240"/>
            <a:ext cx="3108960" cy="292608"/>
          </a:xfrm>
          <a:prstGeom prst="rect">
            <a:avLst/>
          </a:prstGeom>
          <a:noFill/>
          <a:ln/>
        </p:spPr>
        <p:txBody>
          <a:bodyPr wrap="square" lIns="0" tIns="0" rIns="0" bIns="0" rtlCol="0" anchor="ctr"/>
          <a:lstStyle/>
          <a:p>
            <a:pPr indent="0" marL="0">
              <a:buNone/>
            </a:pPr>
            <a:r>
              <a:rPr lang="en-US" sz="1200" b="1" dirty="0">
                <a:solidFill>
                  <a:srgbClr val="E9EDF2"/>
                </a:solidFill>
                <a:latin typeface="Calibri" pitchFamily="34" charset="0"/>
                <a:ea typeface="Calibri" pitchFamily="34" charset="-122"/>
                <a:cs typeface="Calibri" pitchFamily="34" charset="-120"/>
              </a:rPr>
              <a:t>428 not 200</a:t>
            </a:r>
            <a:endParaRPr lang="en-US" sz="1200" dirty="0"/>
          </a:p>
        </p:txBody>
      </p:sp>
      <p:sp>
        <p:nvSpPr>
          <p:cNvPr id="24" name="Text 22"/>
          <p:cNvSpPr/>
          <p:nvPr/>
        </p:nvSpPr>
        <p:spPr>
          <a:xfrm>
            <a:off x="722376" y="5641848"/>
            <a:ext cx="3108960" cy="621792"/>
          </a:xfrm>
          <a:prstGeom prst="rect">
            <a:avLst/>
          </a:prstGeom>
          <a:noFill/>
          <a:ln/>
        </p:spPr>
        <p:txBody>
          <a:bodyPr wrap="square" lIns="0" tIns="0" rIns="0" bIns="0" rtlCol="0" anchor="ctr"/>
          <a:lstStyle/>
          <a:p>
            <a:pPr indent="0" marL="0">
              <a:lnSpc>
                <a:spcPts val="1400"/>
              </a:lnSpc>
              <a:buNone/>
            </a:pPr>
            <a:r>
              <a:rPr lang="en-US" sz="1050" dirty="0">
                <a:solidFill>
                  <a:srgbClr val="8B98A8"/>
                </a:solidFill>
                <a:latin typeface="Calibri" pitchFamily="34" charset="0"/>
                <a:ea typeface="Calibri" pitchFamily="34" charset="-122"/>
                <a:cs typeface="Calibri" pitchFamily="34" charset="-120"/>
              </a:rPr>
              <a:t>A PUT with no If-Match can’t say which version it means to replace. Refused.</a:t>
            </a:r>
            <a:endParaRPr lang="en-US" sz="1050" dirty="0"/>
          </a:p>
        </p:txBody>
      </p:sp>
      <p:sp>
        <p:nvSpPr>
          <p:cNvPr id="25" name="Shape 23"/>
          <p:cNvSpPr/>
          <p:nvPr/>
        </p:nvSpPr>
        <p:spPr>
          <a:xfrm>
            <a:off x="4279392" y="5230368"/>
            <a:ext cx="3520440" cy="1143000"/>
          </a:xfrm>
          <a:prstGeom prst="roundRect">
            <a:avLst>
              <a:gd name="adj" fmla="val 4000"/>
            </a:avLst>
          </a:prstGeom>
          <a:solidFill>
            <a:srgbClr val="171C24"/>
          </a:solidFill>
          <a:ln w="12700">
            <a:solidFill>
              <a:srgbClr val="2A323D"/>
            </a:solidFill>
            <a:prstDash val="solid"/>
          </a:ln>
        </p:spPr>
      </p:sp>
      <p:sp>
        <p:nvSpPr>
          <p:cNvPr id="26" name="Text 24"/>
          <p:cNvSpPr/>
          <p:nvPr/>
        </p:nvSpPr>
        <p:spPr>
          <a:xfrm>
            <a:off x="4498848" y="5349240"/>
            <a:ext cx="3108960" cy="292608"/>
          </a:xfrm>
          <a:prstGeom prst="rect">
            <a:avLst/>
          </a:prstGeom>
          <a:noFill/>
          <a:ln/>
        </p:spPr>
        <p:txBody>
          <a:bodyPr wrap="square" lIns="0" tIns="0" rIns="0" bIns="0" rtlCol="0" anchor="ctr"/>
          <a:lstStyle/>
          <a:p>
            <a:pPr indent="0" marL="0">
              <a:buNone/>
            </a:pPr>
            <a:r>
              <a:rPr lang="en-US" sz="1200" b="1" dirty="0">
                <a:solidFill>
                  <a:srgbClr val="E9EDF2"/>
                </a:solidFill>
                <a:latin typeface="Calibri" pitchFamily="34" charset="0"/>
                <a:ea typeface="Calibri" pitchFamily="34" charset="-122"/>
                <a:cs typeface="Calibri" pitchFamily="34" charset="-120"/>
              </a:rPr>
              <a:t>* is rejected</a:t>
            </a:r>
            <a:endParaRPr lang="en-US" sz="1200" dirty="0"/>
          </a:p>
        </p:txBody>
      </p:sp>
      <p:sp>
        <p:nvSpPr>
          <p:cNvPr id="27" name="Text 25"/>
          <p:cNvSpPr/>
          <p:nvPr/>
        </p:nvSpPr>
        <p:spPr>
          <a:xfrm>
            <a:off x="4498848" y="5641848"/>
            <a:ext cx="3108960" cy="621792"/>
          </a:xfrm>
          <a:prstGeom prst="rect">
            <a:avLst/>
          </a:prstGeom>
          <a:noFill/>
          <a:ln/>
        </p:spPr>
        <p:txBody>
          <a:bodyPr wrap="square" lIns="0" tIns="0" rIns="0" bIns="0" rtlCol="0" anchor="ctr"/>
          <a:lstStyle/>
          <a:p>
            <a:pPr indent="0" marL="0">
              <a:lnSpc>
                <a:spcPts val="1400"/>
              </a:lnSpc>
              <a:buNone/>
            </a:pPr>
            <a:r>
              <a:rPr lang="en-US" sz="1050" dirty="0">
                <a:solidFill>
                  <a:srgbClr val="8B98A8"/>
                </a:solidFill>
                <a:latin typeface="Calibri" pitchFamily="34" charset="0"/>
                <a:ea typeface="Calibri" pitchFamily="34" charset="-122"/>
                <a:cs typeface="Calibri" pitchFamily="34" charset="-120"/>
              </a:rPr>
              <a:t>If-Match: * means "any version" — exactly the overwrite this prevents.</a:t>
            </a:r>
            <a:endParaRPr lang="en-US" sz="1050" dirty="0"/>
          </a:p>
        </p:txBody>
      </p:sp>
      <p:sp>
        <p:nvSpPr>
          <p:cNvPr id="28" name="Shape 26"/>
          <p:cNvSpPr/>
          <p:nvPr/>
        </p:nvSpPr>
        <p:spPr>
          <a:xfrm>
            <a:off x="8055864" y="5230368"/>
            <a:ext cx="3520440" cy="1143000"/>
          </a:xfrm>
          <a:prstGeom prst="roundRect">
            <a:avLst>
              <a:gd name="adj" fmla="val 4000"/>
            </a:avLst>
          </a:prstGeom>
          <a:solidFill>
            <a:srgbClr val="171C24"/>
          </a:solidFill>
          <a:ln w="12700">
            <a:solidFill>
              <a:srgbClr val="2A323D"/>
            </a:solidFill>
            <a:prstDash val="solid"/>
          </a:ln>
        </p:spPr>
      </p:sp>
      <p:sp>
        <p:nvSpPr>
          <p:cNvPr id="29" name="Text 27"/>
          <p:cNvSpPr/>
          <p:nvPr/>
        </p:nvSpPr>
        <p:spPr>
          <a:xfrm>
            <a:off x="8275320" y="5349240"/>
            <a:ext cx="3108960" cy="292608"/>
          </a:xfrm>
          <a:prstGeom prst="rect">
            <a:avLst/>
          </a:prstGeom>
          <a:noFill/>
          <a:ln/>
        </p:spPr>
        <p:txBody>
          <a:bodyPr wrap="square" lIns="0" tIns="0" rIns="0" bIns="0" rtlCol="0" anchor="ctr"/>
          <a:lstStyle/>
          <a:p>
            <a:pPr indent="0" marL="0">
              <a:buNone/>
            </a:pPr>
            <a:r>
              <a:rPr lang="en-US" sz="1200" b="1" dirty="0">
                <a:solidFill>
                  <a:srgbClr val="E9EDF2"/>
                </a:solidFill>
                <a:latin typeface="Calibri" pitchFamily="34" charset="0"/>
                <a:ea typeface="Calibri" pitchFamily="34" charset="-122"/>
                <a:cs typeface="Calibri" pitchFamily="34" charset="-120"/>
              </a:rPr>
              <a:t>412 carries the ETag</a:t>
            </a:r>
            <a:endParaRPr lang="en-US" sz="1200" dirty="0"/>
          </a:p>
        </p:txBody>
      </p:sp>
      <p:sp>
        <p:nvSpPr>
          <p:cNvPr id="30" name="Text 28"/>
          <p:cNvSpPr/>
          <p:nvPr/>
        </p:nvSpPr>
        <p:spPr>
          <a:xfrm>
            <a:off x="8275320" y="5641848"/>
            <a:ext cx="3108960" cy="621792"/>
          </a:xfrm>
          <a:prstGeom prst="rect">
            <a:avLst/>
          </a:prstGeom>
          <a:noFill/>
          <a:ln/>
        </p:spPr>
        <p:txBody>
          <a:bodyPr wrap="square" lIns="0" tIns="0" rIns="0" bIns="0" rtlCol="0" anchor="ctr"/>
          <a:lstStyle/>
          <a:p>
            <a:pPr indent="0" marL="0">
              <a:lnSpc>
                <a:spcPts val="1400"/>
              </a:lnSpc>
              <a:buNone/>
            </a:pPr>
            <a:r>
              <a:rPr lang="en-US" sz="1050" dirty="0">
                <a:solidFill>
                  <a:srgbClr val="8B98A8"/>
                </a:solidFill>
                <a:latin typeface="Calibri" pitchFamily="34" charset="0"/>
                <a:ea typeface="Calibri" pitchFamily="34" charset="-122"/>
                <a:cs typeface="Calibri" pitchFamily="34" charset="-120"/>
              </a:rPr>
              <a:t>So the client retries without a second round-trip to discover what it lost to.</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02920" y="438912"/>
            <a:ext cx="420624" cy="420624"/>
          </a:xfrm>
          <a:prstGeom prst="ellipse">
            <a:avLst/>
          </a:prstGeom>
          <a:solidFill>
            <a:srgbClr val="E86A33"/>
          </a:solidFill>
          <a:ln/>
        </p:spPr>
      </p:sp>
      <p:sp>
        <p:nvSpPr>
          <p:cNvPr id="3" name="Text 1"/>
          <p:cNvSpPr/>
          <p:nvPr/>
        </p:nvSpPr>
        <p:spPr>
          <a:xfrm>
            <a:off x="502920" y="438912"/>
            <a:ext cx="420624" cy="420624"/>
          </a:xfrm>
          <a:prstGeom prst="rect">
            <a:avLst/>
          </a:prstGeom>
          <a:noFill/>
          <a:ln/>
        </p:spPr>
        <p:txBody>
          <a:bodyPr wrap="square" lIns="0" tIns="0" rIns="0" bIns="0" rtlCol="0" anchor="ctr"/>
          <a:lstStyle/>
          <a:p>
            <a:pPr algn="ctr" indent="0" marL="0">
              <a:buNone/>
            </a:pPr>
            <a:r>
              <a:rPr lang="en-US" sz="1300" b="1" dirty="0">
                <a:solidFill>
                  <a:srgbClr val="0E1116"/>
                </a:solidFill>
                <a:latin typeface="Calibri" pitchFamily="34" charset="0"/>
                <a:ea typeface="Calibri" pitchFamily="34" charset="-122"/>
                <a:cs typeface="Calibri" pitchFamily="34" charset="-120"/>
              </a:rPr>
              <a:t>05</a:t>
            </a:r>
            <a:endParaRPr lang="en-US" sz="1300" dirty="0"/>
          </a:p>
        </p:txBody>
      </p:sp>
      <p:sp>
        <p:nvSpPr>
          <p:cNvPr id="4" name="Text 2"/>
          <p:cNvSpPr/>
          <p:nvPr/>
        </p:nvSpPr>
        <p:spPr>
          <a:xfrm>
            <a:off x="1106424" y="438912"/>
            <a:ext cx="8229600" cy="420624"/>
          </a:xfrm>
          <a:prstGeom prst="rect">
            <a:avLst/>
          </a:prstGeom>
          <a:noFill/>
          <a:ln/>
        </p:spPr>
        <p:txBody>
          <a:bodyPr wrap="square" lIns="0" tIns="0" rIns="0" bIns="0" rtlCol="0" anchor="ctr"/>
          <a:lstStyle/>
          <a:p>
            <a:pPr indent="0" marL="0">
              <a:buNone/>
            </a:pPr>
            <a:r>
              <a:rPr lang="en-US" sz="1100" spc="240" kern="0" dirty="0">
                <a:solidFill>
                  <a:srgbClr val="8B98A8"/>
                </a:solidFill>
                <a:latin typeface="Calibri" pitchFamily="34" charset="0"/>
                <a:ea typeface="Calibri" pitchFamily="34" charset="-122"/>
                <a:cs typeface="Calibri" pitchFamily="34" charset="-120"/>
              </a:rPr>
              <a:t>SCALABILITY</a:t>
            </a:r>
            <a:endParaRPr lang="en-US" sz="1100" dirty="0"/>
          </a:p>
        </p:txBody>
      </p:sp>
      <p:sp>
        <p:nvSpPr>
          <p:cNvPr id="5" name="Text 3"/>
          <p:cNvSpPr/>
          <p:nvPr/>
        </p:nvSpPr>
        <p:spPr>
          <a:xfrm>
            <a:off x="502920" y="1024128"/>
            <a:ext cx="11155680" cy="841248"/>
          </a:xfrm>
          <a:prstGeom prst="rect">
            <a:avLst/>
          </a:prstGeom>
          <a:noFill/>
          <a:ln/>
        </p:spPr>
        <p:txBody>
          <a:bodyPr wrap="square" lIns="0" tIns="0" rIns="0" bIns="0" rtlCol="0" anchor="t"/>
          <a:lstStyle/>
          <a:p>
            <a:pPr indent="0" marL="0">
              <a:buNone/>
            </a:pPr>
            <a:r>
              <a:rPr lang="en-US" sz="3300" b="1" dirty="0">
                <a:solidFill>
                  <a:srgbClr val="E9EDF2"/>
                </a:solidFill>
                <a:latin typeface="Cambria" pitchFamily="34" charset="0"/>
                <a:ea typeface="Cambria" pitchFamily="34" charset="-122"/>
                <a:cs typeface="Cambria" pitchFamily="34" charset="-120"/>
              </a:rPr>
              <a:t>The guarantee has to outlive the HashMap.</a:t>
            </a:r>
            <a:endParaRPr lang="en-US" sz="3300" dirty="0"/>
          </a:p>
        </p:txBody>
      </p:sp>
      <p:sp>
        <p:nvSpPr>
          <p:cNvPr id="6" name="Text 4"/>
          <p:cNvSpPr/>
          <p:nvPr/>
        </p:nvSpPr>
        <p:spPr>
          <a:xfrm>
            <a:off x="502920" y="1847088"/>
            <a:ext cx="10881360" cy="566928"/>
          </a:xfrm>
          <a:prstGeom prst="rect">
            <a:avLst/>
          </a:prstGeom>
          <a:noFill/>
          <a:ln/>
        </p:spPr>
        <p:txBody>
          <a:bodyPr wrap="square" lIns="0" tIns="0" rIns="0" bIns="0" rtlCol="0" anchor="ctr"/>
          <a:lstStyle/>
          <a:p>
            <a:pPr indent="0" marL="0">
              <a:lnSpc>
                <a:spcPts val="1900"/>
              </a:lnSpc>
              <a:buNone/>
            </a:pPr>
            <a:r>
              <a:rPr lang="en-US" sz="1300" dirty="0">
                <a:solidFill>
                  <a:srgbClr val="8B98A8"/>
                </a:solidFill>
                <a:latin typeface="Calibri" pitchFamily="34" charset="0"/>
                <a:ea typeface="Calibri" pitchFamily="34" charset="-122"/>
                <a:cs typeface="Calibri" pitchFamily="34" charset="-120"/>
              </a:rPr>
              <a:t>A process-local store makes If-Match: "4" meaningful only to the instance that issued version 4. Behind a load balancer with three replicas there are three histories and the guarantee is void. So storage is a trait, with two real backends.</a:t>
            </a:r>
            <a:endParaRPr lang="en-US" sz="1300" dirty="0"/>
          </a:p>
        </p:txBody>
      </p:sp>
      <p:sp>
        <p:nvSpPr>
          <p:cNvPr id="7" name="Text 5"/>
          <p:cNvSpPr/>
          <p:nvPr/>
        </p:nvSpPr>
        <p:spPr>
          <a:xfrm>
            <a:off x="502920" y="2560320"/>
            <a:ext cx="5394960" cy="274320"/>
          </a:xfrm>
          <a:prstGeom prst="rect">
            <a:avLst/>
          </a:prstGeom>
          <a:noFill/>
          <a:ln/>
        </p:spPr>
        <p:txBody>
          <a:bodyPr wrap="square" lIns="0" tIns="0" rIns="0" bIns="0" rtlCol="0" anchor="ctr"/>
          <a:lstStyle/>
          <a:p>
            <a:pPr indent="0" marL="0">
              <a:buNone/>
            </a:pPr>
            <a:r>
              <a:rPr lang="en-US" sz="1000" spc="180" kern="0" dirty="0">
                <a:solidFill>
                  <a:srgbClr val="3FB9A0"/>
                </a:solidFill>
                <a:latin typeface="Calibri" pitchFamily="34" charset="0"/>
                <a:ea typeface="Calibri" pitchFamily="34" charset="-122"/>
                <a:cs typeface="Calibri" pitchFamily="34" charset="-120"/>
              </a:rPr>
              <a:t>IN-MEMORY · DEFAULT</a:t>
            </a:r>
            <a:endParaRPr lang="en-US" sz="1000" dirty="0"/>
          </a:p>
        </p:txBody>
      </p:sp>
      <p:sp>
        <p:nvSpPr>
          <p:cNvPr id="8" name="Shape 6"/>
          <p:cNvSpPr/>
          <p:nvPr/>
        </p:nvSpPr>
        <p:spPr>
          <a:xfrm>
            <a:off x="502920" y="2852928"/>
            <a:ext cx="5394960" cy="1170432"/>
          </a:xfrm>
          <a:prstGeom prst="roundRect">
            <a:avLst>
              <a:gd name="adj" fmla="val 3906"/>
            </a:avLst>
          </a:prstGeom>
          <a:solidFill>
            <a:srgbClr val="11151B"/>
          </a:solidFill>
          <a:ln w="12700">
            <a:solidFill>
              <a:srgbClr val="2A323D"/>
            </a:solidFill>
            <a:prstDash val="solid"/>
          </a:ln>
        </p:spPr>
      </p:sp>
      <p:sp>
        <p:nvSpPr>
          <p:cNvPr id="9" name="Text 7"/>
          <p:cNvSpPr/>
          <p:nvPr/>
        </p:nvSpPr>
        <p:spPr>
          <a:xfrm>
            <a:off x="667512" y="2971800"/>
            <a:ext cx="5065776" cy="932688"/>
          </a:xfrm>
          <a:prstGeom prst="rect">
            <a:avLst/>
          </a:prstGeom>
          <a:noFill/>
          <a:ln/>
        </p:spPr>
        <p:txBody>
          <a:bodyPr wrap="square" lIns="0" tIns="0" rIns="0" bIns="0" rtlCol="0" anchor="t"/>
          <a:lstStyle/>
          <a:p>
            <a:pPr indent="0" marL="0">
              <a:lnSpc>
                <a:spcPts val="1500"/>
              </a:lnSpc>
              <a:buNone/>
            </a:pPr>
            <a:r>
              <a:rPr lang="en-US" sz="950" dirty="0">
                <a:solidFill>
                  <a:srgbClr val="C7D0DB"/>
                </a:solidFill>
                <a:latin typeface="Courier New" pitchFamily="34" charset="0"/>
                <a:ea typeface="Courier New" pitchFamily="34" charset="-122"/>
                <a:cs typeface="Courier New" pitchFamily="34" charset="-120"/>
              </a:rPr>
              <a:t>[ RwLock&lt;HashMap&lt;UserId, Arc&lt;Record&gt;&gt;&gt; ; 64 ]</a:t>
            </a:r>
            <a:endParaRPr lang="en-US" sz="950" dirty="0"/>
          </a:p>
          <a:p>
            <a:pPr indent="0" marL="0">
              <a:lnSpc>
                <a:spcPts val="1500"/>
              </a:lnSpc>
              <a:buNone/>
            </a:pPr>
            <a:r>
              <a:rPr lang="en-US" sz="950" dirty="0">
                <a:solidFill>
                  <a:srgbClr val="C7D0DB"/>
                </a:solidFill>
                <a:latin typeface="Courier New" pitchFamily="34" charset="0"/>
                <a:ea typeface="Courier New" pitchFamily="34" charset="-122"/>
                <a:cs typeface="Courier New" pitchFamily="34" charset="-120"/>
              </a:rPr>
              <a:t>  ^^^^^^ sharded, 4 per core</a:t>
            </a:r>
            <a:endParaRPr lang="en-US" sz="950" dirty="0"/>
          </a:p>
          <a:p>
            <a:pPr indent="0" marL="0">
              <a:lnSpc>
                <a:spcPts val="1500"/>
              </a:lnSpc>
              <a:buNone/>
            </a:pPr>
            <a:endParaRPr lang="en-US" sz="950" dirty="0"/>
          </a:p>
          <a:p>
            <a:pPr indent="0" marL="0">
              <a:lnSpc>
                <a:spcPts val="1500"/>
              </a:lnSpc>
              <a:buNone/>
            </a:pPr>
            <a:r>
              <a:rPr lang="en-US" sz="950" dirty="0">
                <a:solidFill>
                  <a:srgbClr val="C7D0DB"/>
                </a:solidFill>
                <a:latin typeface="Courier New" pitchFamily="34" charset="0"/>
                <a:ea typeface="Courier New" pitchFamily="34" charset="-122"/>
                <a:cs typeface="Courier New" pitchFamily="34" charset="-120"/>
              </a:rPr>
              <a:t>Record { ArcSwap&lt;Profile&gt;, Mutex&lt;Vec&lt;Revision&gt;&gt; }</a:t>
            </a:r>
            <a:endParaRPr lang="en-US" sz="950" dirty="0"/>
          </a:p>
          <a:p>
            <a:pPr indent="0" marL="0">
              <a:lnSpc>
                <a:spcPts val="1500"/>
              </a:lnSpc>
              <a:buNone/>
            </a:pPr>
            <a:r>
              <a:rPr lang="en-US" sz="950" dirty="0">
                <a:solidFill>
                  <a:srgbClr val="C7D0DB"/>
                </a:solidFill>
                <a:latin typeface="Courier New" pitchFamily="34" charset="0"/>
                <a:ea typeface="Courier New" pitchFamily="34" charset="-122"/>
                <a:cs typeface="Courier New" pitchFamily="34" charset="-120"/>
              </a:rPr>
              <a:t>         ^^^^^^^ reads take no lock at all</a:t>
            </a:r>
            <a:endParaRPr lang="en-US" sz="950" dirty="0"/>
          </a:p>
        </p:txBody>
      </p:sp>
      <p:sp>
        <p:nvSpPr>
          <p:cNvPr id="10" name="Text 8"/>
          <p:cNvSpPr/>
          <p:nvPr/>
        </p:nvSpPr>
        <p:spPr>
          <a:xfrm>
            <a:off x="502920" y="4114800"/>
            <a:ext cx="5394960" cy="457200"/>
          </a:xfrm>
          <a:prstGeom prst="rect">
            <a:avLst/>
          </a:prstGeom>
          <a:noFill/>
          <a:ln/>
        </p:spPr>
        <p:txBody>
          <a:bodyPr wrap="square" lIns="0" tIns="0" rIns="0" bIns="0" rtlCol="0" anchor="ctr"/>
          <a:lstStyle/>
          <a:p>
            <a:pPr indent="0" marL="0">
              <a:lnSpc>
                <a:spcPts val="1400"/>
              </a:lnSpc>
              <a:buNone/>
            </a:pPr>
            <a:r>
              <a:rPr lang="en-US" sz="1050" dirty="0">
                <a:solidFill>
                  <a:srgbClr val="8B98A8"/>
                </a:solidFill>
                <a:latin typeface="Calibri" pitchFamily="34" charset="0"/>
                <a:ea typeface="Calibri" pitchFamily="34" charset="-122"/>
                <a:cs typeface="Calibri" pitchFamily="34" charset="-120"/>
              </a:rPr>
              <a:t>Shard guard released before the entry is touched — holding both is a global lock in disguise.</a:t>
            </a:r>
            <a:endParaRPr lang="en-US" sz="1050" dirty="0"/>
          </a:p>
        </p:txBody>
      </p:sp>
      <p:sp>
        <p:nvSpPr>
          <p:cNvPr id="11" name="Text 9"/>
          <p:cNvSpPr/>
          <p:nvPr/>
        </p:nvSpPr>
        <p:spPr>
          <a:xfrm>
            <a:off x="6263640" y="2560320"/>
            <a:ext cx="5394960" cy="274320"/>
          </a:xfrm>
          <a:prstGeom prst="rect">
            <a:avLst/>
          </a:prstGeom>
          <a:noFill/>
          <a:ln/>
        </p:spPr>
        <p:txBody>
          <a:bodyPr wrap="square" lIns="0" tIns="0" rIns="0" bIns="0" rtlCol="0" anchor="ctr"/>
          <a:lstStyle/>
          <a:p>
            <a:pPr indent="0" marL="0">
              <a:buNone/>
            </a:pPr>
            <a:r>
              <a:rPr lang="en-US" sz="1000" spc="180" kern="0" dirty="0">
                <a:solidFill>
                  <a:srgbClr val="3FB9A0"/>
                </a:solidFill>
                <a:latin typeface="Calibri" pitchFamily="34" charset="0"/>
                <a:ea typeface="Calibri" pitchFamily="34" charset="-122"/>
                <a:cs typeface="Calibri" pitchFamily="34" charset="-120"/>
              </a:rPr>
              <a:t>SQLITE · SAME CONTRACT</a:t>
            </a:r>
            <a:endParaRPr lang="en-US" sz="1000" dirty="0"/>
          </a:p>
        </p:txBody>
      </p:sp>
      <p:sp>
        <p:nvSpPr>
          <p:cNvPr id="12" name="Shape 10"/>
          <p:cNvSpPr/>
          <p:nvPr/>
        </p:nvSpPr>
        <p:spPr>
          <a:xfrm>
            <a:off x="6263640" y="2852928"/>
            <a:ext cx="5394960" cy="1170432"/>
          </a:xfrm>
          <a:prstGeom prst="roundRect">
            <a:avLst>
              <a:gd name="adj" fmla="val 3906"/>
            </a:avLst>
          </a:prstGeom>
          <a:solidFill>
            <a:srgbClr val="11151B"/>
          </a:solidFill>
          <a:ln w="12700">
            <a:solidFill>
              <a:srgbClr val="2A323D"/>
            </a:solidFill>
            <a:prstDash val="solid"/>
          </a:ln>
        </p:spPr>
      </p:sp>
      <p:sp>
        <p:nvSpPr>
          <p:cNvPr id="13" name="Text 11"/>
          <p:cNvSpPr/>
          <p:nvPr/>
        </p:nvSpPr>
        <p:spPr>
          <a:xfrm>
            <a:off x="6428232" y="2971800"/>
            <a:ext cx="5065776" cy="932688"/>
          </a:xfrm>
          <a:prstGeom prst="rect">
            <a:avLst/>
          </a:prstGeom>
          <a:noFill/>
          <a:ln/>
        </p:spPr>
        <p:txBody>
          <a:bodyPr wrap="square" lIns="0" tIns="0" rIns="0" bIns="0" rtlCol="0" anchor="t"/>
          <a:lstStyle/>
          <a:p>
            <a:pPr indent="0" marL="0">
              <a:lnSpc>
                <a:spcPts val="1500"/>
              </a:lnSpc>
              <a:buNone/>
            </a:pPr>
            <a:r>
              <a:rPr lang="en-US" sz="1050" dirty="0">
                <a:solidFill>
                  <a:srgbClr val="C7D0DB"/>
                </a:solidFill>
                <a:latin typeface="Courier New" pitchFamily="34" charset="0"/>
                <a:ea typeface="Courier New" pitchFamily="34" charset="-122"/>
                <a:cs typeface="Courier New" pitchFamily="34" charset="-120"/>
              </a:rPr>
              <a:t>UPDATE profiles SET version = ?</a:t>
            </a:r>
            <a:endParaRPr lang="en-US" sz="1050" dirty="0"/>
          </a:p>
          <a:p>
            <a:pPr indent="0" marL="0">
              <a:lnSpc>
                <a:spcPts val="1500"/>
              </a:lnSpc>
              <a:buNone/>
            </a:pPr>
            <a:r>
              <a:rPr lang="en-US" sz="1050" dirty="0">
                <a:solidFill>
                  <a:srgbClr val="C7D0DB"/>
                </a:solidFill>
                <a:latin typeface="Courier New" pitchFamily="34" charset="0"/>
                <a:ea typeface="Courier New" pitchFamily="34" charset="-122"/>
                <a:cs typeface="Courier New" pitchFamily="34" charset="-120"/>
              </a:rPr>
              <a:t>WHERE user_id = ? AND version = ?</a:t>
            </a:r>
            <a:endParaRPr lang="en-US" sz="1050" dirty="0"/>
          </a:p>
        </p:txBody>
      </p:sp>
      <p:sp>
        <p:nvSpPr>
          <p:cNvPr id="14" name="Text 12"/>
          <p:cNvSpPr/>
          <p:nvPr/>
        </p:nvSpPr>
        <p:spPr>
          <a:xfrm>
            <a:off x="6263640" y="4114800"/>
            <a:ext cx="5394960" cy="457200"/>
          </a:xfrm>
          <a:prstGeom prst="rect">
            <a:avLst/>
          </a:prstGeom>
          <a:noFill/>
          <a:ln/>
        </p:spPr>
        <p:txBody>
          <a:bodyPr wrap="square" lIns="0" tIns="0" rIns="0" bIns="0" rtlCol="0" anchor="ctr"/>
          <a:lstStyle/>
          <a:p>
            <a:pPr indent="0" marL="0">
              <a:lnSpc>
                <a:spcPts val="1400"/>
              </a:lnSpc>
              <a:buNone/>
            </a:pPr>
            <a:r>
              <a:rPr lang="en-US" sz="1050" dirty="0">
                <a:solidFill>
                  <a:srgbClr val="8B98A8"/>
                </a:solidFill>
                <a:latin typeface="Calibri" pitchFamily="34" charset="0"/>
                <a:ea typeface="Calibri" pitchFamily="34" charset="-122"/>
                <a:cs typeface="Calibri" pitchFamily="34" charset="-120"/>
              </a:rPr>
              <a:t>Row count decides. One row: applied. Zero: stale or missing, told apart by a read in the same transaction.</a:t>
            </a:r>
            <a:endParaRPr lang="en-US" sz="1050" dirty="0"/>
          </a:p>
        </p:txBody>
      </p:sp>
      <p:sp>
        <p:nvSpPr>
          <p:cNvPr id="15" name="Text 13"/>
          <p:cNvSpPr/>
          <p:nvPr/>
        </p:nvSpPr>
        <p:spPr>
          <a:xfrm>
            <a:off x="502920" y="4828032"/>
            <a:ext cx="3657600" cy="274320"/>
          </a:xfrm>
          <a:prstGeom prst="rect">
            <a:avLst/>
          </a:prstGeom>
          <a:noFill/>
          <a:ln/>
        </p:spPr>
        <p:txBody>
          <a:bodyPr wrap="square" lIns="0" tIns="0" rIns="0" bIns="0" rtlCol="0" anchor="ctr"/>
          <a:lstStyle/>
          <a:p>
            <a:pPr indent="0" marL="0">
              <a:buNone/>
            </a:pPr>
            <a:r>
              <a:rPr lang="en-US" sz="1000" spc="180" kern="0" dirty="0">
                <a:solidFill>
                  <a:srgbClr val="8B98A8"/>
                </a:solidFill>
                <a:latin typeface="Calibri" pitchFamily="34" charset="0"/>
                <a:ea typeface="Calibri" pitchFamily="34" charset="-122"/>
                <a:cs typeface="Calibri" pitchFamily="34" charset="-120"/>
              </a:rPr>
              <a:t>EVIDENCE</a:t>
            </a:r>
            <a:endParaRPr lang="en-US" sz="1000" dirty="0"/>
          </a:p>
        </p:txBody>
      </p:sp>
      <p:sp>
        <p:nvSpPr>
          <p:cNvPr id="16" name="Shape 14"/>
          <p:cNvSpPr/>
          <p:nvPr/>
        </p:nvSpPr>
        <p:spPr>
          <a:xfrm>
            <a:off x="502920" y="5120640"/>
            <a:ext cx="11155680" cy="566928"/>
          </a:xfrm>
          <a:prstGeom prst="roundRect">
            <a:avLst>
              <a:gd name="adj" fmla="val 8065"/>
            </a:avLst>
          </a:prstGeom>
          <a:solidFill>
            <a:srgbClr val="171C24"/>
          </a:solidFill>
          <a:ln w="12700">
            <a:solidFill>
              <a:srgbClr val="2A323D"/>
            </a:solidFill>
            <a:prstDash val="solid"/>
          </a:ln>
        </p:spPr>
      </p:sp>
      <p:sp>
        <p:nvSpPr>
          <p:cNvPr id="17" name="Text 15"/>
          <p:cNvSpPr/>
          <p:nvPr/>
        </p:nvSpPr>
        <p:spPr>
          <a:xfrm>
            <a:off x="740664" y="5120640"/>
            <a:ext cx="7498080" cy="566928"/>
          </a:xfrm>
          <a:prstGeom prst="rect">
            <a:avLst/>
          </a:prstGeom>
          <a:noFill/>
          <a:ln/>
        </p:spPr>
        <p:txBody>
          <a:bodyPr wrap="square" lIns="0" tIns="0" rIns="0" bIns="0" rtlCol="0" anchor="ctr"/>
          <a:lstStyle/>
          <a:p>
            <a:pPr indent="0" marL="0">
              <a:buNone/>
            </a:pPr>
            <a:r>
              <a:rPr lang="en-US" sz="1200" dirty="0">
                <a:solidFill>
                  <a:srgbClr val="8B98A8"/>
                </a:solidFill>
                <a:latin typeface="Calibri" pitchFamily="34" charset="0"/>
                <a:ea typeface="Calibri" pitchFamily="34" charset="-122"/>
                <a:cs typeface="Calibri" pitchFamily="34" charset="-120"/>
              </a:rPr>
              <a:t>One conformance suite, both backends</a:t>
            </a:r>
            <a:endParaRPr lang="en-US" sz="1200" dirty="0"/>
          </a:p>
        </p:txBody>
      </p:sp>
      <p:sp>
        <p:nvSpPr>
          <p:cNvPr id="18" name="Text 16"/>
          <p:cNvSpPr/>
          <p:nvPr/>
        </p:nvSpPr>
        <p:spPr>
          <a:xfrm>
            <a:off x="8229600" y="5120640"/>
            <a:ext cx="3246120" cy="566928"/>
          </a:xfrm>
          <a:prstGeom prst="rect">
            <a:avLst/>
          </a:prstGeom>
          <a:noFill/>
          <a:ln/>
        </p:spPr>
        <p:txBody>
          <a:bodyPr wrap="square" lIns="0" tIns="0" rIns="0" bIns="0" rtlCol="0" anchor="ctr"/>
          <a:lstStyle/>
          <a:p>
            <a:pPr algn="r" indent="0" marL="0">
              <a:buNone/>
            </a:pPr>
            <a:r>
              <a:rPr lang="en-US" sz="1250" b="1" dirty="0">
                <a:solidFill>
                  <a:srgbClr val="3FB9A0"/>
                </a:solidFill>
                <a:latin typeface="Courier New" pitchFamily="34" charset="0"/>
                <a:ea typeface="Courier New" pitchFamily="34" charset="-122"/>
                <a:cs typeface="Courier New" pitchFamily="34" charset="-120"/>
              </a:rPr>
              <a:t>10 × 2  PASS</a:t>
            </a:r>
            <a:endParaRPr lang="en-US" sz="1250" dirty="0"/>
          </a:p>
        </p:txBody>
      </p:sp>
      <p:sp>
        <p:nvSpPr>
          <p:cNvPr id="19" name="Shape 17"/>
          <p:cNvSpPr/>
          <p:nvPr/>
        </p:nvSpPr>
        <p:spPr>
          <a:xfrm>
            <a:off x="502920" y="5779008"/>
            <a:ext cx="11155680" cy="566928"/>
          </a:xfrm>
          <a:prstGeom prst="roundRect">
            <a:avLst>
              <a:gd name="adj" fmla="val 8065"/>
            </a:avLst>
          </a:prstGeom>
          <a:solidFill>
            <a:srgbClr val="171C24"/>
          </a:solidFill>
          <a:ln w="12700">
            <a:solidFill>
              <a:srgbClr val="2A323D"/>
            </a:solidFill>
            <a:prstDash val="solid"/>
          </a:ln>
        </p:spPr>
      </p:sp>
      <p:sp>
        <p:nvSpPr>
          <p:cNvPr id="20" name="Text 18"/>
          <p:cNvSpPr/>
          <p:nvPr/>
        </p:nvSpPr>
        <p:spPr>
          <a:xfrm>
            <a:off x="740664" y="5779008"/>
            <a:ext cx="7498080" cy="566928"/>
          </a:xfrm>
          <a:prstGeom prst="rect">
            <a:avLst/>
          </a:prstGeom>
          <a:noFill/>
          <a:ln/>
        </p:spPr>
        <p:txBody>
          <a:bodyPr wrap="square" lIns="0" tIns="0" rIns="0" bIns="0" rtlCol="0" anchor="ctr"/>
          <a:lstStyle/>
          <a:p>
            <a:pPr indent="0" marL="0">
              <a:buNone/>
            </a:pPr>
            <a:r>
              <a:rPr lang="en-US" sz="1200" dirty="0">
                <a:solidFill>
                  <a:srgbClr val="8B98A8"/>
                </a:solidFill>
                <a:latin typeface="Calibri" pitchFamily="34" charset="0"/>
                <a:ea typeface="Calibri" pitchFamily="34" charset="-122"/>
                <a:cs typeface="Calibri" pitchFamily="34" charset="-120"/>
              </a:rPr>
              <a:t>Delete the AND version = ? predicate from either</a:t>
            </a:r>
            <a:endParaRPr lang="en-US" sz="1200" dirty="0"/>
          </a:p>
        </p:txBody>
      </p:sp>
      <p:sp>
        <p:nvSpPr>
          <p:cNvPr id="21" name="Text 19"/>
          <p:cNvSpPr/>
          <p:nvPr/>
        </p:nvSpPr>
        <p:spPr>
          <a:xfrm>
            <a:off x="8229600" y="5779008"/>
            <a:ext cx="3246120" cy="566928"/>
          </a:xfrm>
          <a:prstGeom prst="rect">
            <a:avLst/>
          </a:prstGeom>
          <a:noFill/>
          <a:ln/>
        </p:spPr>
        <p:txBody>
          <a:bodyPr wrap="square" lIns="0" tIns="0" rIns="0" bIns="0" rtlCol="0" anchor="ctr"/>
          <a:lstStyle/>
          <a:p>
            <a:pPr algn="r" indent="0" marL="0">
              <a:buNone/>
            </a:pPr>
            <a:r>
              <a:rPr lang="en-US" sz="1250" b="1" dirty="0">
                <a:solidFill>
                  <a:srgbClr val="E05252"/>
                </a:solidFill>
                <a:latin typeface="Courier New" pitchFamily="34" charset="0"/>
                <a:ea typeface="Courier New" pitchFamily="34" charset="-122"/>
                <a:cs typeface="Courier New" pitchFamily="34" charset="-120"/>
              </a:rPr>
              <a:t>3 FAIL, SYMMETRIC</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02920" y="438912"/>
            <a:ext cx="420624" cy="420624"/>
          </a:xfrm>
          <a:prstGeom prst="ellipse">
            <a:avLst/>
          </a:prstGeom>
          <a:solidFill>
            <a:srgbClr val="E86A33"/>
          </a:solidFill>
          <a:ln/>
        </p:spPr>
      </p:sp>
      <p:sp>
        <p:nvSpPr>
          <p:cNvPr id="3" name="Text 1"/>
          <p:cNvSpPr/>
          <p:nvPr/>
        </p:nvSpPr>
        <p:spPr>
          <a:xfrm>
            <a:off x="502920" y="438912"/>
            <a:ext cx="420624" cy="420624"/>
          </a:xfrm>
          <a:prstGeom prst="rect">
            <a:avLst/>
          </a:prstGeom>
          <a:noFill/>
          <a:ln/>
        </p:spPr>
        <p:txBody>
          <a:bodyPr wrap="square" lIns="0" tIns="0" rIns="0" bIns="0" rtlCol="0" anchor="ctr"/>
          <a:lstStyle/>
          <a:p>
            <a:pPr algn="ctr" indent="0" marL="0">
              <a:buNone/>
            </a:pPr>
            <a:r>
              <a:rPr lang="en-US" sz="1300" b="1" dirty="0">
                <a:solidFill>
                  <a:srgbClr val="0E1116"/>
                </a:solidFill>
                <a:latin typeface="Calibri" pitchFamily="34" charset="0"/>
                <a:ea typeface="Calibri" pitchFamily="34" charset="-122"/>
                <a:cs typeface="Calibri" pitchFamily="34" charset="-120"/>
              </a:rPr>
              <a:t>06</a:t>
            </a:r>
            <a:endParaRPr lang="en-US" sz="1300" dirty="0"/>
          </a:p>
        </p:txBody>
      </p:sp>
      <p:sp>
        <p:nvSpPr>
          <p:cNvPr id="4" name="Text 2"/>
          <p:cNvSpPr/>
          <p:nvPr/>
        </p:nvSpPr>
        <p:spPr>
          <a:xfrm>
            <a:off x="1106424" y="438912"/>
            <a:ext cx="8229600" cy="420624"/>
          </a:xfrm>
          <a:prstGeom prst="rect">
            <a:avLst/>
          </a:prstGeom>
          <a:noFill/>
          <a:ln/>
        </p:spPr>
        <p:txBody>
          <a:bodyPr wrap="square" lIns="0" tIns="0" rIns="0" bIns="0" rtlCol="0" anchor="ctr"/>
          <a:lstStyle/>
          <a:p>
            <a:pPr indent="0" marL="0">
              <a:buNone/>
            </a:pPr>
            <a:r>
              <a:rPr lang="en-US" sz="1100" spc="240" kern="0" dirty="0">
                <a:solidFill>
                  <a:srgbClr val="8B98A8"/>
                </a:solidFill>
                <a:latin typeface="Calibri" pitchFamily="34" charset="0"/>
                <a:ea typeface="Calibri" pitchFamily="34" charset="-122"/>
                <a:cs typeface="Calibri" pitchFamily="34" charset="-120"/>
              </a:rPr>
              <a:t>MEASUREMENT</a:t>
            </a:r>
            <a:endParaRPr lang="en-US" sz="1100" dirty="0"/>
          </a:p>
        </p:txBody>
      </p:sp>
      <p:sp>
        <p:nvSpPr>
          <p:cNvPr id="5" name="Text 3"/>
          <p:cNvSpPr/>
          <p:nvPr/>
        </p:nvSpPr>
        <p:spPr>
          <a:xfrm>
            <a:off x="502920" y="1024128"/>
            <a:ext cx="11155680" cy="841248"/>
          </a:xfrm>
          <a:prstGeom prst="rect">
            <a:avLst/>
          </a:prstGeom>
          <a:noFill/>
          <a:ln/>
        </p:spPr>
        <p:txBody>
          <a:bodyPr wrap="square" lIns="0" tIns="0" rIns="0" bIns="0" rtlCol="0" anchor="t"/>
          <a:lstStyle/>
          <a:p>
            <a:pPr indent="0" marL="0">
              <a:buNone/>
            </a:pPr>
            <a:r>
              <a:rPr lang="en-US" sz="3300" b="1" dirty="0">
                <a:solidFill>
                  <a:srgbClr val="E9EDF2"/>
                </a:solidFill>
                <a:latin typeface="Cambria" pitchFamily="34" charset="0"/>
                <a:ea typeface="Cambria" pitchFamily="34" charset="-122"/>
                <a:cs typeface="Cambria" pitchFamily="34" charset="-120"/>
              </a:rPr>
              <a:t>I optimised the wrong thing first.</a:t>
            </a:r>
            <a:endParaRPr lang="en-US" sz="3300" dirty="0"/>
          </a:p>
        </p:txBody>
      </p:sp>
      <p:sp>
        <p:nvSpPr>
          <p:cNvPr id="6" name="Text 4"/>
          <p:cNvSpPr/>
          <p:nvPr/>
        </p:nvSpPr>
        <p:spPr>
          <a:xfrm>
            <a:off x="502920" y="1847088"/>
            <a:ext cx="10881360" cy="548640"/>
          </a:xfrm>
          <a:prstGeom prst="rect">
            <a:avLst/>
          </a:prstGeom>
          <a:noFill/>
          <a:ln/>
        </p:spPr>
        <p:txBody>
          <a:bodyPr wrap="square" lIns="0" tIns="0" rIns="0" bIns="0" rtlCol="0" anchor="ctr"/>
          <a:lstStyle/>
          <a:p>
            <a:pPr indent="0" marL="0">
              <a:lnSpc>
                <a:spcPts val="1900"/>
              </a:lnSpc>
              <a:buNone/>
            </a:pPr>
            <a:r>
              <a:rPr lang="en-US" sz="1300" dirty="0">
                <a:solidFill>
                  <a:srgbClr val="8B98A8"/>
                </a:solidFill>
                <a:latin typeface="Calibri" pitchFamily="34" charset="0"/>
                <a:ea typeface="Calibri" pitchFamily="34" charset="-122"/>
                <a:cs typeface="Calibri" pitchFamily="34" charset="-120"/>
              </a:rPr>
              <a:t>Round one tuned the store and the middleware, in-process, and got real numbers. Round two measured the running system over real HTTP and made most of round one irrelevant.</a:t>
            </a:r>
            <a:endParaRPr lang="en-US" sz="1300" dirty="0"/>
          </a:p>
        </p:txBody>
      </p:sp>
      <p:sp>
        <p:nvSpPr>
          <p:cNvPr id="7" name="Text 5"/>
          <p:cNvSpPr/>
          <p:nvPr/>
        </p:nvSpPr>
        <p:spPr>
          <a:xfrm>
            <a:off x="502920" y="2505456"/>
            <a:ext cx="5852160" cy="274320"/>
          </a:xfrm>
          <a:prstGeom prst="rect">
            <a:avLst/>
          </a:prstGeom>
          <a:noFill/>
          <a:ln/>
        </p:spPr>
        <p:txBody>
          <a:bodyPr wrap="square" lIns="0" tIns="0" rIns="0" bIns="0" rtlCol="0" anchor="ctr"/>
          <a:lstStyle/>
          <a:p>
            <a:pPr indent="0" marL="0">
              <a:buNone/>
            </a:pPr>
            <a:r>
              <a:rPr lang="en-US" sz="1000" spc="180" kern="0" dirty="0">
                <a:solidFill>
                  <a:srgbClr val="E86A33"/>
                </a:solidFill>
                <a:latin typeface="Calibri" pitchFamily="34" charset="0"/>
                <a:ea typeface="Calibri" pitchFamily="34" charset="-122"/>
                <a:cs typeface="Calibri" pitchFamily="34" charset="-120"/>
              </a:rPr>
              <a:t>ROUND TWO · THE REAL SYSTEM</a:t>
            </a:r>
            <a:endParaRPr lang="en-US" sz="1000" dirty="0"/>
          </a:p>
        </p:txBody>
      </p:sp>
      <p:graphicFrame>
        <p:nvGraphicFramePr>
          <p:cNvPr id="8" name="Chart 0" descr=""/>
          <p:cNvGraphicFramePr/>
          <p:nvPr/>
        </p:nvGraphicFramePr>
        <p:xfrm>
          <a:off x="457200" y="2788920"/>
          <a:ext cx="5943600" cy="1700784"/>
        </p:xfrm>
        <a:graphic xmlns:a="http://schemas.openxmlformats.org/drawingml/2006/main">
          <a:graphicData uri="http://schemas.openxmlformats.org/drawingml/2006/chart">
            <c:chart xmlns:c="http://schemas.openxmlformats.org/drawingml/2006/chart" r:id="rId1"/>
          </a:graphicData>
        </a:graphic>
      </p:graphicFrame>
      <p:sp>
        <p:nvSpPr>
          <p:cNvPr id="9" name="Text 6"/>
          <p:cNvSpPr/>
          <p:nvPr/>
        </p:nvSpPr>
        <p:spPr>
          <a:xfrm>
            <a:off x="502920" y="4681728"/>
            <a:ext cx="5852160" cy="457200"/>
          </a:xfrm>
          <a:prstGeom prst="rect">
            <a:avLst/>
          </a:prstGeom>
          <a:noFill/>
          <a:ln/>
        </p:spPr>
        <p:txBody>
          <a:bodyPr wrap="square" lIns="0" tIns="0" rIns="0" bIns="0" rtlCol="0" anchor="ctr"/>
          <a:lstStyle/>
          <a:p>
            <a:pPr indent="0" marL="0">
              <a:lnSpc>
                <a:spcPts val="1500"/>
              </a:lnSpc>
              <a:buNone/>
            </a:pPr>
            <a:r>
              <a:rPr lang="en-US" sz="1150" b="1" dirty="0">
                <a:solidFill>
                  <a:srgbClr val="E9EDF2"/>
                </a:solidFill>
                <a:latin typeface="Calibri" pitchFamily="34" charset="0"/>
                <a:ea typeface="Calibri" pitchFamily="34" charset="-122"/>
                <a:cs typeface="Calibri" pitchFamily="34" charset="-120"/>
              </a:rPr>
              <a:t>The hop costs 60% of throughput</a:t>
            </a:r>
            <a:pPr indent="0" marL="0">
              <a:lnSpc>
                <a:spcPts val="1500"/>
              </a:lnSpc>
              <a:buNone/>
            </a:pPr>
            <a:r>
              <a:rPr lang="en-US" sz="1150" dirty="0">
                <a:solidFill>
                  <a:srgbClr val="8B98A8"/>
                </a:solidFill>
                <a:latin typeface="Calibri" pitchFamily="34" charset="0"/>
                <a:ea typeface="Calibri" pitchFamily="34" charset="-122"/>
                <a:cs typeface="Calibri" pitchFamily="34" charset="-120"/>
              </a:rPr>
              <a:t> — ~29 µs/request, and 2.42 ms p50 against 898 µs direct.</a:t>
            </a:r>
            <a:endParaRPr lang="en-US" sz="1150" dirty="0"/>
          </a:p>
        </p:txBody>
      </p:sp>
      <p:sp>
        <p:nvSpPr>
          <p:cNvPr id="10" name="Text 7"/>
          <p:cNvSpPr/>
          <p:nvPr/>
        </p:nvSpPr>
        <p:spPr>
          <a:xfrm>
            <a:off x="6675120" y="2505456"/>
            <a:ext cx="4983480" cy="274320"/>
          </a:xfrm>
          <a:prstGeom prst="rect">
            <a:avLst/>
          </a:prstGeom>
          <a:noFill/>
          <a:ln/>
        </p:spPr>
        <p:txBody>
          <a:bodyPr wrap="square" lIns="0" tIns="0" rIns="0" bIns="0" rtlCol="0" anchor="ctr"/>
          <a:lstStyle/>
          <a:p>
            <a:pPr indent="0" marL="0">
              <a:buNone/>
            </a:pPr>
            <a:r>
              <a:rPr lang="en-US" sz="1000" spc="180" kern="0" dirty="0">
                <a:solidFill>
                  <a:srgbClr val="8B98A8"/>
                </a:solidFill>
                <a:latin typeface="Calibri" pitchFamily="34" charset="0"/>
                <a:ea typeface="Calibri" pitchFamily="34" charset="-122"/>
                <a:cs typeface="Calibri" pitchFamily="34" charset="-120"/>
              </a:rPr>
              <a:t>ROUND ONE · IN-PROCESS</a:t>
            </a:r>
            <a:endParaRPr lang="en-US" sz="1000" dirty="0"/>
          </a:p>
        </p:txBody>
      </p:sp>
      <p:sp>
        <p:nvSpPr>
          <p:cNvPr id="11" name="Shape 8"/>
          <p:cNvSpPr/>
          <p:nvPr/>
        </p:nvSpPr>
        <p:spPr>
          <a:xfrm>
            <a:off x="6675120" y="2816352"/>
            <a:ext cx="4983480" cy="475488"/>
          </a:xfrm>
          <a:prstGeom prst="roundRect">
            <a:avLst>
              <a:gd name="adj" fmla="val 9615"/>
            </a:avLst>
          </a:prstGeom>
          <a:solidFill>
            <a:srgbClr val="171C24"/>
          </a:solidFill>
          <a:ln w="12700">
            <a:solidFill>
              <a:srgbClr val="2A323D"/>
            </a:solidFill>
            <a:prstDash val="solid"/>
          </a:ln>
        </p:spPr>
      </p:sp>
      <p:sp>
        <p:nvSpPr>
          <p:cNvPr id="12" name="Text 9"/>
          <p:cNvSpPr/>
          <p:nvPr/>
        </p:nvSpPr>
        <p:spPr>
          <a:xfrm>
            <a:off x="6894576" y="2816352"/>
            <a:ext cx="3108960" cy="475488"/>
          </a:xfrm>
          <a:prstGeom prst="rect">
            <a:avLst/>
          </a:prstGeom>
          <a:noFill/>
          <a:ln/>
        </p:spPr>
        <p:txBody>
          <a:bodyPr wrap="square" lIns="0" tIns="0" rIns="0" bIns="0" rtlCol="0" anchor="ctr"/>
          <a:lstStyle/>
          <a:p>
            <a:pPr indent="0" marL="0">
              <a:buNone/>
            </a:pPr>
            <a:r>
              <a:rPr lang="en-US" sz="1100" dirty="0">
                <a:solidFill>
                  <a:srgbClr val="8B98A8"/>
                </a:solidFill>
                <a:latin typeface="Calibri" pitchFamily="34" charset="0"/>
                <a:ea typeface="Calibri" pitchFamily="34" charset="-122"/>
                <a:cs typeface="Calibri" pitchFamily="34" charset="-120"/>
              </a:rPr>
              <a:t>shard the map (64 shards)</a:t>
            </a:r>
            <a:endParaRPr lang="en-US" sz="1100" dirty="0"/>
          </a:p>
        </p:txBody>
      </p:sp>
      <p:sp>
        <p:nvSpPr>
          <p:cNvPr id="13" name="Text 10"/>
          <p:cNvSpPr/>
          <p:nvPr/>
        </p:nvSpPr>
        <p:spPr>
          <a:xfrm>
            <a:off x="9966960" y="2816352"/>
            <a:ext cx="1463040" cy="475488"/>
          </a:xfrm>
          <a:prstGeom prst="rect">
            <a:avLst/>
          </a:prstGeom>
          <a:noFill/>
          <a:ln/>
        </p:spPr>
        <p:txBody>
          <a:bodyPr wrap="square" lIns="0" tIns="0" rIns="0" bIns="0" rtlCol="0" anchor="ctr"/>
          <a:lstStyle/>
          <a:p>
            <a:pPr algn="r" indent="0" marL="0">
              <a:buNone/>
            </a:pPr>
            <a:r>
              <a:rPr lang="en-US" sz="1200" b="1" dirty="0">
                <a:solidFill>
                  <a:srgbClr val="3FB9A0"/>
                </a:solidFill>
                <a:latin typeface="Courier New" pitchFamily="34" charset="0"/>
                <a:ea typeface="Courier New" pitchFamily="34" charset="-122"/>
                <a:cs typeface="Courier New" pitchFamily="34" charset="-120"/>
              </a:rPr>
              <a:t>+52%</a:t>
            </a:r>
            <a:endParaRPr lang="en-US" sz="1200" dirty="0"/>
          </a:p>
        </p:txBody>
      </p:sp>
      <p:sp>
        <p:nvSpPr>
          <p:cNvPr id="14" name="Shape 11"/>
          <p:cNvSpPr/>
          <p:nvPr/>
        </p:nvSpPr>
        <p:spPr>
          <a:xfrm>
            <a:off x="6675120" y="3383280"/>
            <a:ext cx="4983480" cy="475488"/>
          </a:xfrm>
          <a:prstGeom prst="roundRect">
            <a:avLst>
              <a:gd name="adj" fmla="val 9615"/>
            </a:avLst>
          </a:prstGeom>
          <a:solidFill>
            <a:srgbClr val="171C24"/>
          </a:solidFill>
          <a:ln w="12700">
            <a:solidFill>
              <a:srgbClr val="2A323D"/>
            </a:solidFill>
            <a:prstDash val="solid"/>
          </a:ln>
        </p:spPr>
      </p:sp>
      <p:sp>
        <p:nvSpPr>
          <p:cNvPr id="15" name="Text 12"/>
          <p:cNvSpPr/>
          <p:nvPr/>
        </p:nvSpPr>
        <p:spPr>
          <a:xfrm>
            <a:off x="6894576" y="3383280"/>
            <a:ext cx="3108960" cy="475488"/>
          </a:xfrm>
          <a:prstGeom prst="rect">
            <a:avLst/>
          </a:prstGeom>
          <a:noFill/>
          <a:ln/>
        </p:spPr>
        <p:txBody>
          <a:bodyPr wrap="square" lIns="0" tIns="0" rIns="0" bIns="0" rtlCol="0" anchor="ctr"/>
          <a:lstStyle/>
          <a:p>
            <a:pPr indent="0" marL="0">
              <a:buNone/>
            </a:pPr>
            <a:r>
              <a:rPr lang="en-US" sz="1100" dirty="0">
                <a:solidFill>
                  <a:srgbClr val="8B98A8"/>
                </a:solidFill>
                <a:latin typeface="Calibri" pitchFamily="34" charset="0"/>
                <a:ea typeface="Calibri" pitchFamily="34" charset="-122"/>
                <a:cs typeface="Calibri" pitchFamily="34" charset="-120"/>
              </a:rPr>
              <a:t>merge two middleware layers</a:t>
            </a:r>
            <a:endParaRPr lang="en-US" sz="1100" dirty="0"/>
          </a:p>
        </p:txBody>
      </p:sp>
      <p:sp>
        <p:nvSpPr>
          <p:cNvPr id="16" name="Text 13"/>
          <p:cNvSpPr/>
          <p:nvPr/>
        </p:nvSpPr>
        <p:spPr>
          <a:xfrm>
            <a:off x="9966960" y="3383280"/>
            <a:ext cx="1463040" cy="475488"/>
          </a:xfrm>
          <a:prstGeom prst="rect">
            <a:avLst/>
          </a:prstGeom>
          <a:noFill/>
          <a:ln/>
        </p:spPr>
        <p:txBody>
          <a:bodyPr wrap="square" lIns="0" tIns="0" rIns="0" bIns="0" rtlCol="0" anchor="ctr"/>
          <a:lstStyle/>
          <a:p>
            <a:pPr algn="r" indent="0" marL="0">
              <a:buNone/>
            </a:pPr>
            <a:r>
              <a:rPr lang="en-US" sz="1200" b="1" dirty="0">
                <a:solidFill>
                  <a:srgbClr val="E9EDF2"/>
                </a:solidFill>
                <a:latin typeface="Courier New" pitchFamily="34" charset="0"/>
                <a:ea typeface="Courier New" pitchFamily="34" charset="-122"/>
                <a:cs typeface="Courier New" pitchFamily="34" charset="-120"/>
              </a:rPr>
              <a:t>439 ns</a:t>
            </a:r>
            <a:endParaRPr lang="en-US" sz="1200" dirty="0"/>
          </a:p>
        </p:txBody>
      </p:sp>
      <p:sp>
        <p:nvSpPr>
          <p:cNvPr id="17" name="Shape 14"/>
          <p:cNvSpPr/>
          <p:nvPr/>
        </p:nvSpPr>
        <p:spPr>
          <a:xfrm>
            <a:off x="6675120" y="3950208"/>
            <a:ext cx="4983480" cy="475488"/>
          </a:xfrm>
          <a:prstGeom prst="roundRect">
            <a:avLst>
              <a:gd name="adj" fmla="val 9615"/>
            </a:avLst>
          </a:prstGeom>
          <a:solidFill>
            <a:srgbClr val="171C24"/>
          </a:solidFill>
          <a:ln w="12700">
            <a:solidFill>
              <a:srgbClr val="2A323D"/>
            </a:solidFill>
            <a:prstDash val="solid"/>
          </a:ln>
        </p:spPr>
      </p:sp>
      <p:sp>
        <p:nvSpPr>
          <p:cNvPr id="18" name="Text 15"/>
          <p:cNvSpPr/>
          <p:nvPr/>
        </p:nvSpPr>
        <p:spPr>
          <a:xfrm>
            <a:off x="6894576" y="3950208"/>
            <a:ext cx="3108960" cy="475488"/>
          </a:xfrm>
          <a:prstGeom prst="rect">
            <a:avLst/>
          </a:prstGeom>
          <a:noFill/>
          <a:ln/>
        </p:spPr>
        <p:txBody>
          <a:bodyPr wrap="square" lIns="0" tIns="0" rIns="0" bIns="0" rtlCol="0" anchor="ctr"/>
          <a:lstStyle/>
          <a:p>
            <a:pPr indent="0" marL="0">
              <a:buNone/>
            </a:pPr>
            <a:r>
              <a:rPr lang="en-US" sz="1100" dirty="0">
                <a:solidFill>
                  <a:srgbClr val="8B98A8"/>
                </a:solidFill>
                <a:latin typeface="Calibri" pitchFamily="34" charset="0"/>
                <a:ea typeface="Calibri" pitchFamily="34" charset="-122"/>
                <a:cs typeface="Calibri" pitchFamily="34" charset="-120"/>
              </a:rPr>
              <a:t>store read, share of a request</a:t>
            </a:r>
            <a:endParaRPr lang="en-US" sz="1100" dirty="0"/>
          </a:p>
        </p:txBody>
      </p:sp>
      <p:sp>
        <p:nvSpPr>
          <p:cNvPr id="19" name="Text 16"/>
          <p:cNvSpPr/>
          <p:nvPr/>
        </p:nvSpPr>
        <p:spPr>
          <a:xfrm>
            <a:off x="9966960" y="3950208"/>
            <a:ext cx="1463040" cy="475488"/>
          </a:xfrm>
          <a:prstGeom prst="rect">
            <a:avLst/>
          </a:prstGeom>
          <a:noFill/>
          <a:ln/>
        </p:spPr>
        <p:txBody>
          <a:bodyPr wrap="square" lIns="0" tIns="0" rIns="0" bIns="0" rtlCol="0" anchor="ctr"/>
          <a:lstStyle/>
          <a:p>
            <a:pPr algn="r" indent="0" marL="0">
              <a:buNone/>
            </a:pPr>
            <a:r>
              <a:rPr lang="en-US" sz="1200" b="1" dirty="0">
                <a:solidFill>
                  <a:srgbClr val="8B98A8"/>
                </a:solidFill>
                <a:latin typeface="Courier New" pitchFamily="34" charset="0"/>
                <a:ea typeface="Courier New" pitchFamily="34" charset="-122"/>
                <a:cs typeface="Courier New" pitchFamily="34" charset="-120"/>
              </a:rPr>
              <a:t>1.5%</a:t>
            </a:r>
            <a:endParaRPr lang="en-US" sz="1200" dirty="0"/>
          </a:p>
        </p:txBody>
      </p:sp>
      <p:sp>
        <p:nvSpPr>
          <p:cNvPr id="20" name="Text 17"/>
          <p:cNvSpPr/>
          <p:nvPr/>
        </p:nvSpPr>
        <p:spPr>
          <a:xfrm>
            <a:off x="6675120" y="4572000"/>
            <a:ext cx="4983480" cy="566928"/>
          </a:xfrm>
          <a:prstGeom prst="rect">
            <a:avLst/>
          </a:prstGeom>
          <a:noFill/>
          <a:ln/>
        </p:spPr>
        <p:txBody>
          <a:bodyPr wrap="square" lIns="0" tIns="0" rIns="0" bIns="0" rtlCol="0" anchor="ctr"/>
          <a:lstStyle/>
          <a:p>
            <a:pPr indent="0" marL="0">
              <a:lnSpc>
                <a:spcPts val="1500"/>
              </a:lnSpc>
              <a:buNone/>
            </a:pPr>
            <a:r>
              <a:rPr lang="en-US" sz="1100" dirty="0">
                <a:solidFill>
                  <a:srgbClr val="8B98A8"/>
                </a:solidFill>
                <a:latin typeface="Calibri" pitchFamily="34" charset="0"/>
                <a:ea typeface="Calibri" pitchFamily="34" charset="-122"/>
                <a:cs typeface="Calibri" pitchFamily="34" charset="-120"/>
              </a:rPr>
              <a:t>Each from_fn layer costs ~900 ns whatever it does — more than the handler it guards. Everything here totalled 439 nanoseconds; the hop is 67× larger than all of it.</a:t>
            </a:r>
            <a:endParaRPr lang="en-US" sz="1100" dirty="0"/>
          </a:p>
        </p:txBody>
      </p:sp>
      <p:sp>
        <p:nvSpPr>
          <p:cNvPr id="21" name="Shape 18"/>
          <p:cNvSpPr/>
          <p:nvPr/>
        </p:nvSpPr>
        <p:spPr>
          <a:xfrm>
            <a:off x="502920" y="5321808"/>
            <a:ext cx="11155680" cy="1051560"/>
          </a:xfrm>
          <a:prstGeom prst="roundRect">
            <a:avLst>
              <a:gd name="adj" fmla="val 4348"/>
            </a:avLst>
          </a:prstGeom>
          <a:solidFill>
            <a:srgbClr val="221A16"/>
          </a:solidFill>
          <a:ln w="12700">
            <a:solidFill>
              <a:srgbClr val="2A323D"/>
            </a:solidFill>
            <a:prstDash val="solid"/>
          </a:ln>
        </p:spPr>
      </p:sp>
      <p:sp>
        <p:nvSpPr>
          <p:cNvPr id="22" name="Shape 19"/>
          <p:cNvSpPr/>
          <p:nvPr/>
        </p:nvSpPr>
        <p:spPr>
          <a:xfrm>
            <a:off x="502920" y="5321808"/>
            <a:ext cx="11155680" cy="1051560"/>
          </a:xfrm>
          <a:prstGeom prst="roundRect">
            <a:avLst>
              <a:gd name="adj" fmla="val 4348"/>
            </a:avLst>
          </a:prstGeom>
          <a:solidFill>
            <a:srgbClr val="221A16"/>
          </a:solidFill>
          <a:ln w="15875">
            <a:solidFill>
              <a:srgbClr val="E86A33"/>
            </a:solidFill>
            <a:prstDash val="solid"/>
          </a:ln>
        </p:spPr>
      </p:sp>
      <p:sp>
        <p:nvSpPr>
          <p:cNvPr id="23" name="Text 20"/>
          <p:cNvSpPr/>
          <p:nvPr/>
        </p:nvSpPr>
        <p:spPr>
          <a:xfrm>
            <a:off x="758952" y="5431536"/>
            <a:ext cx="5029200" cy="292608"/>
          </a:xfrm>
          <a:prstGeom prst="rect">
            <a:avLst/>
          </a:prstGeom>
          <a:noFill/>
          <a:ln/>
        </p:spPr>
        <p:txBody>
          <a:bodyPr wrap="square" lIns="0" tIns="0" rIns="0" bIns="0" rtlCol="0" anchor="ctr"/>
          <a:lstStyle/>
          <a:p>
            <a:pPr indent="0" marL="0">
              <a:buNone/>
            </a:pPr>
            <a:r>
              <a:rPr lang="en-US" sz="1250" b="1" dirty="0">
                <a:solidFill>
                  <a:srgbClr val="E86A33"/>
                </a:solidFill>
                <a:latin typeface="Calibri" pitchFamily="34" charset="0"/>
                <a:ea typeface="Calibri" pitchFamily="34" charset="-122"/>
                <a:cs typeface="Calibri" pitchFamily="34" charset="-120"/>
              </a:rPr>
              <a:t>The biggest win was a bug I wrote</a:t>
            </a:r>
            <a:endParaRPr lang="en-US" sz="1250" dirty="0"/>
          </a:p>
        </p:txBody>
      </p:sp>
      <p:sp>
        <p:nvSpPr>
          <p:cNvPr id="24" name="Text 21"/>
          <p:cNvSpPr/>
          <p:nvPr/>
        </p:nvSpPr>
        <p:spPr>
          <a:xfrm>
            <a:off x="758952" y="5724144"/>
            <a:ext cx="10607040" cy="548640"/>
          </a:xfrm>
          <a:prstGeom prst="rect">
            <a:avLst/>
          </a:prstGeom>
          <a:noFill/>
          <a:ln/>
        </p:spPr>
        <p:txBody>
          <a:bodyPr wrap="square" lIns="0" tIns="0" rIns="0" bIns="0" rtlCol="0" anchor="ctr"/>
          <a:lstStyle/>
          <a:p>
            <a:pPr indent="0" marL="0">
              <a:lnSpc>
                <a:spcPts val="1500"/>
              </a:lnSpc>
              <a:buNone/>
            </a:pPr>
            <a:r>
              <a:rPr lang="en-US" sz="1100" dirty="0">
                <a:solidFill>
                  <a:srgbClr val="C7D0DB"/>
                </a:solidFill>
                <a:latin typeface="Courier New" pitchFamily="34" charset="0"/>
                <a:ea typeface="Courier New" pitchFamily="34" charset="-122"/>
                <a:cs typeface="Courier New" pitchFamily="34" charset="-120"/>
              </a:rPr>
              <a:t>EnvFilter default "info,tower_http=debug"</a:t>
            </a:r>
            <a:pPr indent="0" marL="0">
              <a:lnSpc>
                <a:spcPts val="1500"/>
              </a:lnSpc>
              <a:buNone/>
            </a:pPr>
            <a:r>
              <a:rPr lang="en-US" sz="1100" dirty="0">
                <a:solidFill>
                  <a:srgbClr val="8B98A8"/>
                </a:solidFill>
                <a:latin typeface="Calibri" pitchFamily="34" charset="0"/>
                <a:ea typeface="Calibri" pitchFamily="34" charset="-122"/>
                <a:cs typeface="Calibri" pitchFamily="34" charset="-120"/>
              </a:rPr>
              <a:t>  →  two formatted log lines per request  ·  320,006 lines across a 160,000-request run  →  changing it to </a:t>
            </a:r>
            <a:pPr indent="0" marL="0">
              <a:lnSpc>
                <a:spcPts val="1500"/>
              </a:lnSpc>
              <a:buNone/>
            </a:pPr>
            <a:r>
              <a:rPr lang="en-US" sz="1100" dirty="0">
                <a:solidFill>
                  <a:srgbClr val="C7D0DB"/>
                </a:solidFill>
                <a:latin typeface="Courier New" pitchFamily="34" charset="0"/>
                <a:ea typeface="Courier New" pitchFamily="34" charset="-122"/>
                <a:cs typeface="Courier New" pitchFamily="34" charset="-120"/>
              </a:rPr>
              <a:t>"info"</a:t>
            </a:r>
            <a:pPr indent="0" marL="0">
              <a:lnSpc>
                <a:spcPts val="1500"/>
              </a:lnSpc>
              <a:buNone/>
            </a:pPr>
            <a:r>
              <a:rPr lang="en-US" sz="1100" dirty="0">
                <a:solidFill>
                  <a:srgbClr val="8B98A8"/>
                </a:solidFill>
                <a:latin typeface="Calibri" pitchFamily="34" charset="0"/>
                <a:ea typeface="Calibri" pitchFamily="34" charset="-122"/>
                <a:cs typeface="Calibri" pitchFamily="34" charset="-120"/>
              </a:rPr>
              <a:t>:  +18% throughput, −0.45 ms p50, and it stops filling a disk in production.</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02920" y="438912"/>
            <a:ext cx="420624" cy="420624"/>
          </a:xfrm>
          <a:prstGeom prst="ellipse">
            <a:avLst/>
          </a:prstGeom>
          <a:solidFill>
            <a:srgbClr val="E86A33"/>
          </a:solidFill>
          <a:ln/>
        </p:spPr>
      </p:sp>
      <p:sp>
        <p:nvSpPr>
          <p:cNvPr id="3" name="Text 1"/>
          <p:cNvSpPr/>
          <p:nvPr/>
        </p:nvSpPr>
        <p:spPr>
          <a:xfrm>
            <a:off x="502920" y="438912"/>
            <a:ext cx="420624" cy="420624"/>
          </a:xfrm>
          <a:prstGeom prst="rect">
            <a:avLst/>
          </a:prstGeom>
          <a:noFill/>
          <a:ln/>
        </p:spPr>
        <p:txBody>
          <a:bodyPr wrap="square" lIns="0" tIns="0" rIns="0" bIns="0" rtlCol="0" anchor="ctr"/>
          <a:lstStyle/>
          <a:p>
            <a:pPr algn="ctr" indent="0" marL="0">
              <a:buNone/>
            </a:pPr>
            <a:r>
              <a:rPr lang="en-US" sz="1300" b="1" dirty="0">
                <a:solidFill>
                  <a:srgbClr val="0E1116"/>
                </a:solidFill>
                <a:latin typeface="Calibri" pitchFamily="34" charset="0"/>
                <a:ea typeface="Calibri" pitchFamily="34" charset="-122"/>
                <a:cs typeface="Calibri" pitchFamily="34" charset="-120"/>
              </a:rPr>
              <a:t>07</a:t>
            </a:r>
            <a:endParaRPr lang="en-US" sz="1300" dirty="0"/>
          </a:p>
        </p:txBody>
      </p:sp>
      <p:sp>
        <p:nvSpPr>
          <p:cNvPr id="4" name="Text 2"/>
          <p:cNvSpPr/>
          <p:nvPr/>
        </p:nvSpPr>
        <p:spPr>
          <a:xfrm>
            <a:off x="1106424" y="438912"/>
            <a:ext cx="8229600" cy="420624"/>
          </a:xfrm>
          <a:prstGeom prst="rect">
            <a:avLst/>
          </a:prstGeom>
          <a:noFill/>
          <a:ln/>
        </p:spPr>
        <p:txBody>
          <a:bodyPr wrap="square" lIns="0" tIns="0" rIns="0" bIns="0" rtlCol="0" anchor="ctr"/>
          <a:lstStyle/>
          <a:p>
            <a:pPr indent="0" marL="0">
              <a:buNone/>
            </a:pPr>
            <a:r>
              <a:rPr lang="en-US" sz="1100" spc="240" kern="0" dirty="0">
                <a:solidFill>
                  <a:srgbClr val="8B98A8"/>
                </a:solidFill>
                <a:latin typeface="Calibri" pitchFamily="34" charset="0"/>
                <a:ea typeface="Calibri" pitchFamily="34" charset="-122"/>
                <a:cs typeface="Calibri" pitchFamily="34" charset="-120"/>
              </a:rPr>
              <a:t>SECURITY</a:t>
            </a:r>
            <a:endParaRPr lang="en-US" sz="1100" dirty="0"/>
          </a:p>
        </p:txBody>
      </p:sp>
      <p:sp>
        <p:nvSpPr>
          <p:cNvPr id="5" name="Text 3"/>
          <p:cNvSpPr/>
          <p:nvPr/>
        </p:nvSpPr>
        <p:spPr>
          <a:xfrm>
            <a:off x="502920" y="1024128"/>
            <a:ext cx="11155680" cy="841248"/>
          </a:xfrm>
          <a:prstGeom prst="rect">
            <a:avLst/>
          </a:prstGeom>
          <a:noFill/>
          <a:ln/>
        </p:spPr>
        <p:txBody>
          <a:bodyPr wrap="square" lIns="0" tIns="0" rIns="0" bIns="0" rtlCol="0" anchor="t"/>
          <a:lstStyle/>
          <a:p>
            <a:pPr indent="0" marL="0">
              <a:buNone/>
            </a:pPr>
            <a:r>
              <a:rPr lang="en-US" sz="3300" b="1" dirty="0">
                <a:solidFill>
                  <a:srgbClr val="E9EDF2"/>
                </a:solidFill>
                <a:latin typeface="Cambria" pitchFamily="34" charset="0"/>
                <a:ea typeface="Cambria" pitchFamily="34" charset="-122"/>
                <a:cs typeface="Cambria" pitchFamily="34" charset="-120"/>
              </a:rPr>
              <a:t>Matching the body is the easy half.</a:t>
            </a:r>
            <a:endParaRPr lang="en-US" sz="3300" dirty="0"/>
          </a:p>
        </p:txBody>
      </p:sp>
      <p:sp>
        <p:nvSpPr>
          <p:cNvPr id="6" name="Text 4"/>
          <p:cNvSpPr/>
          <p:nvPr/>
        </p:nvSpPr>
        <p:spPr>
          <a:xfrm>
            <a:off x="502920" y="1883664"/>
            <a:ext cx="5394960" cy="274320"/>
          </a:xfrm>
          <a:prstGeom prst="rect">
            <a:avLst/>
          </a:prstGeom>
          <a:noFill/>
          <a:ln/>
        </p:spPr>
        <p:txBody>
          <a:bodyPr wrap="square" lIns="0" tIns="0" rIns="0" bIns="0" rtlCol="0" anchor="ctr"/>
          <a:lstStyle/>
          <a:p>
            <a:pPr indent="0" marL="0">
              <a:buNone/>
            </a:pPr>
            <a:r>
              <a:rPr lang="en-US" sz="1000" spc="180" kern="0" dirty="0">
                <a:solidFill>
                  <a:srgbClr val="3FB9A0"/>
                </a:solidFill>
                <a:latin typeface="Calibri" pitchFamily="34" charset="0"/>
                <a:ea typeface="Calibri" pitchFamily="34" charset="-122"/>
                <a:cs typeface="Calibri" pitchFamily="34" charset="-120"/>
              </a:rPr>
              <a:t>STRUCTURAL, NOT CONVENTIONAL</a:t>
            </a:r>
            <a:endParaRPr lang="en-US" sz="1000" dirty="0"/>
          </a:p>
        </p:txBody>
      </p:sp>
      <p:sp>
        <p:nvSpPr>
          <p:cNvPr id="7" name="Shape 5"/>
          <p:cNvSpPr/>
          <p:nvPr/>
        </p:nvSpPr>
        <p:spPr>
          <a:xfrm>
            <a:off x="502920" y="2194560"/>
            <a:ext cx="5394960" cy="1280160"/>
          </a:xfrm>
          <a:prstGeom prst="roundRect">
            <a:avLst>
              <a:gd name="adj" fmla="val 3571"/>
            </a:avLst>
          </a:prstGeom>
          <a:solidFill>
            <a:srgbClr val="11151B"/>
          </a:solidFill>
          <a:ln w="12700">
            <a:solidFill>
              <a:srgbClr val="2A323D"/>
            </a:solidFill>
            <a:prstDash val="solid"/>
          </a:ln>
        </p:spPr>
      </p:sp>
      <p:sp>
        <p:nvSpPr>
          <p:cNvPr id="8" name="Text 6"/>
          <p:cNvSpPr/>
          <p:nvPr/>
        </p:nvSpPr>
        <p:spPr>
          <a:xfrm>
            <a:off x="667512" y="2313432"/>
            <a:ext cx="5065776" cy="1042416"/>
          </a:xfrm>
          <a:prstGeom prst="rect">
            <a:avLst/>
          </a:prstGeom>
          <a:noFill/>
          <a:ln/>
        </p:spPr>
        <p:txBody>
          <a:bodyPr wrap="square" lIns="0" tIns="0" rIns="0" bIns="0" rtlCol="0" anchor="t"/>
          <a:lstStyle/>
          <a:p>
            <a:pPr indent="0" marL="0">
              <a:lnSpc>
                <a:spcPts val="1500"/>
              </a:lnSpc>
              <a:buNone/>
            </a:pPr>
            <a:r>
              <a:rPr lang="en-US" sz="1100" dirty="0">
                <a:solidFill>
                  <a:srgbClr val="C7D0DB"/>
                </a:solidFill>
                <a:latin typeface="Courier New" pitchFamily="34" charset="0"/>
                <a:ea typeface="Courier New" pitchFamily="34" charset="-122"/>
                <a:cs typeface="Courier New" pitchFamily="34" charset="-120"/>
              </a:rPr>
              <a:t>pub enum Authentication {</a:t>
            </a:r>
            <a:endParaRPr lang="en-US" sz="1100" dirty="0"/>
          </a:p>
          <a:p>
            <a:pPr indent="0" marL="0">
              <a:lnSpc>
                <a:spcPts val="1500"/>
              </a:lnSpc>
              <a:buNone/>
            </a:pPr>
            <a:r>
              <a:rPr lang="en-US" sz="1100" dirty="0">
                <a:solidFill>
                  <a:srgbClr val="C7D0DB"/>
                </a:solidFill>
                <a:latin typeface="Courier New" pitchFamily="34" charset="0"/>
                <a:ea typeface="Courier New" pitchFamily="34" charset="-122"/>
                <a:cs typeface="Courier New" pitchFamily="34" charset="-120"/>
              </a:rPr>
              <a:t>    Authenticated(Arc&lt;UserRecord&gt;),</a:t>
            </a:r>
            <a:endParaRPr lang="en-US" sz="1100" dirty="0"/>
          </a:p>
          <a:p>
            <a:pPr indent="0" marL="0">
              <a:lnSpc>
                <a:spcPts val="1500"/>
              </a:lnSpc>
              <a:buNone/>
            </a:pPr>
            <a:r>
              <a:rPr lang="en-US" sz="1100" dirty="0">
                <a:solidFill>
                  <a:srgbClr val="C7D0DB"/>
                </a:solidFill>
                <a:latin typeface="Courier New" pitchFamily="34" charset="0"/>
                <a:ea typeface="Courier New" pitchFamily="34" charset="-122"/>
                <a:cs typeface="Courier New" pitchFamily="34" charset="-120"/>
              </a:rPr>
              <a:t>    Rejected,</a:t>
            </a:r>
            <a:endParaRPr lang="en-US" sz="1100" dirty="0"/>
          </a:p>
          <a:p>
            <a:pPr indent="0" marL="0">
              <a:lnSpc>
                <a:spcPts val="1500"/>
              </a:lnSpc>
              <a:buNone/>
            </a:pPr>
            <a:r>
              <a:rPr lang="en-US" sz="1100" dirty="0">
                <a:solidFill>
                  <a:srgbClr val="C7D0DB"/>
                </a:solidFill>
                <a:latin typeface="Courier New" pitchFamily="34" charset="0"/>
                <a:ea typeface="Courier New" pitchFamily="34" charset="-122"/>
                <a:cs typeface="Courier New" pitchFamily="34" charset="-120"/>
              </a:rPr>
              <a:t>}</a:t>
            </a:r>
            <a:endParaRPr lang="en-US" sz="1100" dirty="0"/>
          </a:p>
        </p:txBody>
      </p:sp>
      <p:sp>
        <p:nvSpPr>
          <p:cNvPr id="9" name="Text 7"/>
          <p:cNvSpPr/>
          <p:nvPr/>
        </p:nvSpPr>
        <p:spPr>
          <a:xfrm>
            <a:off x="502920" y="3566160"/>
            <a:ext cx="5394960" cy="603504"/>
          </a:xfrm>
          <a:prstGeom prst="rect">
            <a:avLst/>
          </a:prstGeom>
          <a:noFill/>
          <a:ln/>
        </p:spPr>
        <p:txBody>
          <a:bodyPr wrap="square" lIns="0" tIns="0" rIns="0" bIns="0" rtlCol="0" anchor="ctr"/>
          <a:lstStyle/>
          <a:p>
            <a:pPr indent="0" marL="0">
              <a:lnSpc>
                <a:spcPts val="1600"/>
              </a:lnSpc>
              <a:buNone/>
            </a:pPr>
            <a:r>
              <a:rPr lang="en-US" sz="1100" dirty="0">
                <a:solidFill>
                  <a:srgbClr val="8B98A8"/>
                </a:solidFill>
                <a:latin typeface="Calibri" pitchFamily="34" charset="0"/>
                <a:ea typeface="Calibri" pitchFamily="34" charset="-122"/>
                <a:cs typeface="Calibri" pitchFamily="34" charset="-120"/>
              </a:rPr>
              <a:t>Unknown username and wrong password both produce Rejected. The distinction never leaves the module — no handler can leak what it was never given.</a:t>
            </a:r>
            <a:endParaRPr lang="en-US" sz="1100" dirty="0"/>
          </a:p>
        </p:txBody>
      </p:sp>
      <p:sp>
        <p:nvSpPr>
          <p:cNvPr id="10" name="Text 8"/>
          <p:cNvSpPr/>
          <p:nvPr/>
        </p:nvSpPr>
        <p:spPr>
          <a:xfrm>
            <a:off x="6263640" y="1883664"/>
            <a:ext cx="5394960" cy="274320"/>
          </a:xfrm>
          <a:prstGeom prst="rect">
            <a:avLst/>
          </a:prstGeom>
          <a:noFill/>
          <a:ln/>
        </p:spPr>
        <p:txBody>
          <a:bodyPr wrap="square" lIns="0" tIns="0" rIns="0" bIns="0" rtlCol="0" anchor="ctr"/>
          <a:lstStyle/>
          <a:p>
            <a:pPr indent="0" marL="0">
              <a:buNone/>
            </a:pPr>
            <a:r>
              <a:rPr lang="en-US" sz="1000" spc="180" kern="0" dirty="0">
                <a:solidFill>
                  <a:srgbClr val="3FB9A0"/>
                </a:solidFill>
                <a:latin typeface="Calibri" pitchFamily="34" charset="0"/>
                <a:ea typeface="Calibri" pitchFamily="34" charset="-122"/>
                <a:cs typeface="Calibri" pitchFamily="34" charset="-120"/>
              </a:rPr>
              <a:t>AND THE TIMING HALF</a:t>
            </a:r>
            <a:endParaRPr lang="en-US" sz="1000" dirty="0"/>
          </a:p>
        </p:txBody>
      </p:sp>
      <p:sp>
        <p:nvSpPr>
          <p:cNvPr id="11" name="Shape 9"/>
          <p:cNvSpPr/>
          <p:nvPr/>
        </p:nvSpPr>
        <p:spPr>
          <a:xfrm>
            <a:off x="6263640" y="2194560"/>
            <a:ext cx="5394960" cy="1280160"/>
          </a:xfrm>
          <a:prstGeom prst="roundRect">
            <a:avLst>
              <a:gd name="adj" fmla="val 3571"/>
            </a:avLst>
          </a:prstGeom>
          <a:solidFill>
            <a:srgbClr val="171C24"/>
          </a:solidFill>
          <a:ln w="12700">
            <a:solidFill>
              <a:srgbClr val="2A323D"/>
            </a:solidFill>
            <a:prstDash val="solid"/>
          </a:ln>
        </p:spPr>
      </p:sp>
      <p:sp>
        <p:nvSpPr>
          <p:cNvPr id="12" name="Text 10"/>
          <p:cNvSpPr/>
          <p:nvPr/>
        </p:nvSpPr>
        <p:spPr>
          <a:xfrm>
            <a:off x="6501384" y="2304288"/>
            <a:ext cx="4937760" cy="1060704"/>
          </a:xfrm>
          <a:prstGeom prst="rect">
            <a:avLst/>
          </a:prstGeom>
          <a:noFill/>
          <a:ln/>
        </p:spPr>
        <p:txBody>
          <a:bodyPr wrap="square" lIns="0" tIns="0" rIns="0" bIns="0" rtlCol="0" anchor="ctr"/>
          <a:lstStyle/>
          <a:p>
            <a:pPr indent="0" marL="0">
              <a:lnSpc>
                <a:spcPts val="1500"/>
              </a:lnSpc>
              <a:buNone/>
            </a:pPr>
            <a:r>
              <a:rPr lang="en-US" sz="1100" dirty="0">
                <a:solidFill>
                  <a:srgbClr val="8B98A8"/>
                </a:solidFill>
                <a:latin typeface="Calibri" pitchFamily="34" charset="0"/>
                <a:ea typeface="Calibri" pitchFamily="34" charset="-122"/>
                <a:cs typeface="Calibri" pitchFamily="34" charset="-120"/>
              </a:rPr>
              <a:t>A lookup miss verifies against a decoy hash — a real Argon2 hash of a value no account holds. Same work, always false.</a:t>
            </a:r>
            <a:endParaRPr lang="en-US" sz="1100" dirty="0"/>
          </a:p>
          <a:p>
            <a:pPr indent="0" marL="0">
              <a:lnSpc>
                <a:spcPts val="1500"/>
              </a:lnSpc>
              <a:buNone/>
            </a:pPr>
            <a:endParaRPr lang="en-US" sz="1100" dirty="0"/>
          </a:p>
          <a:p>
            <a:pPr indent="0" marL="0">
              <a:lnSpc>
                <a:spcPts val="1500"/>
              </a:lnSpc>
              <a:buNone/>
            </a:pPr>
            <a:r>
              <a:rPr lang="en-US" sz="1100" dirty="0">
                <a:solidFill>
                  <a:srgbClr val="8B98A8"/>
                </a:solidFill>
                <a:latin typeface="Calibri" pitchFamily="34" charset="0"/>
                <a:ea typeface="Calibri" pitchFamily="34" charset="-122"/>
                <a:cs typeface="Calibri" pitchFamily="34" charset="-120"/>
              </a:rPr>
              <a:t>A throttled account gets the identical 401 and still pays for a full verification. Otherwise lockout becomes the oracle.</a:t>
            </a:r>
            <a:endParaRPr lang="en-US" sz="1100" dirty="0"/>
          </a:p>
        </p:txBody>
      </p:sp>
      <p:sp>
        <p:nvSpPr>
          <p:cNvPr id="13" name="Text 11"/>
          <p:cNvSpPr/>
          <p:nvPr/>
        </p:nvSpPr>
        <p:spPr>
          <a:xfrm>
            <a:off x="502920" y="4370832"/>
            <a:ext cx="3657600" cy="274320"/>
          </a:xfrm>
          <a:prstGeom prst="rect">
            <a:avLst/>
          </a:prstGeom>
          <a:noFill/>
          <a:ln/>
        </p:spPr>
        <p:txBody>
          <a:bodyPr wrap="square" lIns="0" tIns="0" rIns="0" bIns="0" rtlCol="0" anchor="ctr"/>
          <a:lstStyle/>
          <a:p>
            <a:pPr indent="0" marL="0">
              <a:buNone/>
            </a:pPr>
            <a:r>
              <a:rPr lang="en-US" sz="1000" spc="180" kern="0" dirty="0">
                <a:solidFill>
                  <a:srgbClr val="8B98A8"/>
                </a:solidFill>
                <a:latin typeface="Calibri" pitchFamily="34" charset="0"/>
                <a:ea typeface="Calibri" pitchFamily="34" charset="-122"/>
                <a:cs typeface="Calibri" pitchFamily="34" charset="-120"/>
              </a:rPr>
              <a:t>MEASURED</a:t>
            </a:r>
            <a:endParaRPr lang="en-US" sz="1000" dirty="0"/>
          </a:p>
        </p:txBody>
      </p:sp>
      <p:sp>
        <p:nvSpPr>
          <p:cNvPr id="14" name="Text 12"/>
          <p:cNvSpPr/>
          <p:nvPr/>
        </p:nvSpPr>
        <p:spPr>
          <a:xfrm>
            <a:off x="6675120" y="4370832"/>
            <a:ext cx="2286000" cy="274320"/>
          </a:xfrm>
          <a:prstGeom prst="rect">
            <a:avLst/>
          </a:prstGeom>
          <a:noFill/>
          <a:ln/>
        </p:spPr>
        <p:txBody>
          <a:bodyPr wrap="square" lIns="0" tIns="0" rIns="0" bIns="0" rtlCol="0" anchor="ctr"/>
          <a:lstStyle/>
          <a:p>
            <a:pPr algn="r" indent="0" marL="0">
              <a:buNone/>
            </a:pPr>
            <a:r>
              <a:rPr lang="en-US" sz="1000" spc="140" kern="0" dirty="0">
                <a:solidFill>
                  <a:srgbClr val="8B98A8"/>
                </a:solidFill>
                <a:latin typeface="Calibri" pitchFamily="34" charset="0"/>
                <a:ea typeface="Calibri" pitchFamily="34" charset="-122"/>
                <a:cs typeface="Calibri" pitchFamily="34" charset="-120"/>
              </a:rPr>
              <a:t>UNKNOWN USER</a:t>
            </a:r>
            <a:endParaRPr lang="en-US" sz="1000" dirty="0"/>
          </a:p>
        </p:txBody>
      </p:sp>
      <p:sp>
        <p:nvSpPr>
          <p:cNvPr id="15" name="Text 13"/>
          <p:cNvSpPr/>
          <p:nvPr/>
        </p:nvSpPr>
        <p:spPr>
          <a:xfrm>
            <a:off x="9052560" y="4370832"/>
            <a:ext cx="2423160" cy="274320"/>
          </a:xfrm>
          <a:prstGeom prst="rect">
            <a:avLst/>
          </a:prstGeom>
          <a:noFill/>
          <a:ln/>
        </p:spPr>
        <p:txBody>
          <a:bodyPr wrap="square" lIns="0" tIns="0" rIns="0" bIns="0" rtlCol="0" anchor="ctr"/>
          <a:lstStyle/>
          <a:p>
            <a:pPr algn="r" indent="0" marL="0">
              <a:buNone/>
            </a:pPr>
            <a:r>
              <a:rPr lang="en-US" sz="1000" spc="140" kern="0" dirty="0">
                <a:solidFill>
                  <a:srgbClr val="8B98A8"/>
                </a:solidFill>
                <a:latin typeface="Calibri" pitchFamily="34" charset="0"/>
                <a:ea typeface="Calibri" pitchFamily="34" charset="-122"/>
                <a:cs typeface="Calibri" pitchFamily="34" charset="-120"/>
              </a:rPr>
              <a:t>KNOWN, WRONG PASSWORD</a:t>
            </a:r>
            <a:endParaRPr lang="en-US" sz="1000" dirty="0"/>
          </a:p>
        </p:txBody>
      </p:sp>
      <p:sp>
        <p:nvSpPr>
          <p:cNvPr id="16" name="Shape 14"/>
          <p:cNvSpPr/>
          <p:nvPr/>
        </p:nvSpPr>
        <p:spPr>
          <a:xfrm>
            <a:off x="502920" y="4663440"/>
            <a:ext cx="11155680" cy="548640"/>
          </a:xfrm>
          <a:prstGeom prst="roundRect">
            <a:avLst>
              <a:gd name="adj" fmla="val 8333"/>
            </a:avLst>
          </a:prstGeom>
          <a:solidFill>
            <a:srgbClr val="171C24"/>
          </a:solidFill>
          <a:ln w="12700">
            <a:solidFill>
              <a:srgbClr val="2A323D"/>
            </a:solidFill>
            <a:prstDash val="solid"/>
          </a:ln>
        </p:spPr>
      </p:sp>
      <p:sp>
        <p:nvSpPr>
          <p:cNvPr id="17" name="Text 15"/>
          <p:cNvSpPr/>
          <p:nvPr/>
        </p:nvSpPr>
        <p:spPr>
          <a:xfrm>
            <a:off x="740664" y="4663440"/>
            <a:ext cx="4937760" cy="548640"/>
          </a:xfrm>
          <a:prstGeom prst="rect">
            <a:avLst/>
          </a:prstGeom>
          <a:noFill/>
          <a:ln/>
        </p:spPr>
        <p:txBody>
          <a:bodyPr wrap="square" lIns="0" tIns="0" rIns="0" bIns="0" rtlCol="0" anchor="ctr"/>
          <a:lstStyle/>
          <a:p>
            <a:pPr indent="0" marL="0">
              <a:buNone/>
            </a:pPr>
            <a:r>
              <a:rPr lang="en-US" sz="1200" dirty="0">
                <a:solidFill>
                  <a:srgbClr val="8B98A8"/>
                </a:solidFill>
                <a:latin typeface="Calibri" pitchFamily="34" charset="0"/>
                <a:ea typeface="Calibri" pitchFamily="34" charset="-122"/>
                <a:cs typeface="Calibri" pitchFamily="34" charset="-120"/>
              </a:rPr>
              <a:t>before warming the decoy</a:t>
            </a:r>
            <a:endParaRPr lang="en-US" sz="1200" dirty="0"/>
          </a:p>
        </p:txBody>
      </p:sp>
      <p:sp>
        <p:nvSpPr>
          <p:cNvPr id="18" name="Text 16"/>
          <p:cNvSpPr/>
          <p:nvPr/>
        </p:nvSpPr>
        <p:spPr>
          <a:xfrm>
            <a:off x="6675120" y="4663440"/>
            <a:ext cx="2286000" cy="548640"/>
          </a:xfrm>
          <a:prstGeom prst="rect">
            <a:avLst/>
          </a:prstGeom>
          <a:noFill/>
          <a:ln/>
        </p:spPr>
        <p:txBody>
          <a:bodyPr wrap="square" lIns="0" tIns="0" rIns="0" bIns="0" rtlCol="0" anchor="ctr"/>
          <a:lstStyle/>
          <a:p>
            <a:pPr algn="r" indent="0" marL="0">
              <a:buNone/>
            </a:pPr>
            <a:r>
              <a:rPr lang="en-US" sz="1300" b="1" dirty="0">
                <a:solidFill>
                  <a:srgbClr val="E05252"/>
                </a:solidFill>
                <a:latin typeface="Courier New" pitchFamily="34" charset="0"/>
                <a:ea typeface="Courier New" pitchFamily="34" charset="-122"/>
                <a:cs typeface="Courier New" pitchFamily="34" charset="-120"/>
              </a:rPr>
              <a:t>0.94 s</a:t>
            </a:r>
            <a:endParaRPr lang="en-US" sz="1300" dirty="0"/>
          </a:p>
        </p:txBody>
      </p:sp>
      <p:sp>
        <p:nvSpPr>
          <p:cNvPr id="19" name="Text 17"/>
          <p:cNvSpPr/>
          <p:nvPr/>
        </p:nvSpPr>
        <p:spPr>
          <a:xfrm>
            <a:off x="9052560" y="4663440"/>
            <a:ext cx="2423160" cy="548640"/>
          </a:xfrm>
          <a:prstGeom prst="rect">
            <a:avLst/>
          </a:prstGeom>
          <a:noFill/>
          <a:ln/>
        </p:spPr>
        <p:txBody>
          <a:bodyPr wrap="square" lIns="0" tIns="0" rIns="0" bIns="0" rtlCol="0" anchor="ctr"/>
          <a:lstStyle/>
          <a:p>
            <a:pPr algn="r" indent="0" marL="0">
              <a:buNone/>
            </a:pPr>
            <a:r>
              <a:rPr lang="en-US" sz="1300" b="1" dirty="0">
                <a:solidFill>
                  <a:srgbClr val="E05252"/>
                </a:solidFill>
                <a:latin typeface="Courier New" pitchFamily="34" charset="0"/>
                <a:ea typeface="Courier New" pitchFamily="34" charset="-122"/>
                <a:cs typeface="Courier New" pitchFamily="34" charset="-120"/>
              </a:rPr>
              <a:t>0.47 s</a:t>
            </a:r>
            <a:endParaRPr lang="en-US" sz="1300" dirty="0"/>
          </a:p>
        </p:txBody>
      </p:sp>
      <p:sp>
        <p:nvSpPr>
          <p:cNvPr id="20" name="Shape 18"/>
          <p:cNvSpPr/>
          <p:nvPr/>
        </p:nvSpPr>
        <p:spPr>
          <a:xfrm>
            <a:off x="502920" y="5303520"/>
            <a:ext cx="11155680" cy="548640"/>
          </a:xfrm>
          <a:prstGeom prst="roundRect">
            <a:avLst>
              <a:gd name="adj" fmla="val 8333"/>
            </a:avLst>
          </a:prstGeom>
          <a:solidFill>
            <a:srgbClr val="171C24"/>
          </a:solidFill>
          <a:ln w="12700">
            <a:solidFill>
              <a:srgbClr val="2A323D"/>
            </a:solidFill>
            <a:prstDash val="solid"/>
          </a:ln>
        </p:spPr>
      </p:sp>
      <p:sp>
        <p:nvSpPr>
          <p:cNvPr id="21" name="Text 19"/>
          <p:cNvSpPr/>
          <p:nvPr/>
        </p:nvSpPr>
        <p:spPr>
          <a:xfrm>
            <a:off x="740664" y="5303520"/>
            <a:ext cx="4937760" cy="548640"/>
          </a:xfrm>
          <a:prstGeom prst="rect">
            <a:avLst/>
          </a:prstGeom>
          <a:noFill/>
          <a:ln/>
        </p:spPr>
        <p:txBody>
          <a:bodyPr wrap="square" lIns="0" tIns="0" rIns="0" bIns="0" rtlCol="0" anchor="ctr"/>
          <a:lstStyle/>
          <a:p>
            <a:pPr indent="0" marL="0">
              <a:buNone/>
            </a:pPr>
            <a:r>
              <a:rPr lang="en-US" sz="1200" dirty="0">
                <a:solidFill>
                  <a:srgbClr val="8B98A8"/>
                </a:solidFill>
                <a:latin typeface="Calibri" pitchFamily="34" charset="0"/>
                <a:ea typeface="Calibri" pitchFamily="34" charset="-122"/>
                <a:cs typeface="Calibri" pitchFamily="34" charset="-120"/>
              </a:rPr>
              <a:t>after</a:t>
            </a:r>
            <a:endParaRPr lang="en-US" sz="1200" dirty="0"/>
          </a:p>
        </p:txBody>
      </p:sp>
      <p:sp>
        <p:nvSpPr>
          <p:cNvPr id="22" name="Text 20"/>
          <p:cNvSpPr/>
          <p:nvPr/>
        </p:nvSpPr>
        <p:spPr>
          <a:xfrm>
            <a:off x="6675120" y="5303520"/>
            <a:ext cx="2286000" cy="548640"/>
          </a:xfrm>
          <a:prstGeom prst="rect">
            <a:avLst/>
          </a:prstGeom>
          <a:noFill/>
          <a:ln/>
        </p:spPr>
        <p:txBody>
          <a:bodyPr wrap="square" lIns="0" tIns="0" rIns="0" bIns="0" rtlCol="0" anchor="ctr"/>
          <a:lstStyle/>
          <a:p>
            <a:pPr algn="r" indent="0" marL="0">
              <a:buNone/>
            </a:pPr>
            <a:r>
              <a:rPr lang="en-US" sz="1300" b="1" dirty="0">
                <a:solidFill>
                  <a:srgbClr val="3FB9A0"/>
                </a:solidFill>
                <a:latin typeface="Courier New" pitchFamily="34" charset="0"/>
                <a:ea typeface="Courier New" pitchFamily="34" charset="-122"/>
                <a:cs typeface="Courier New" pitchFamily="34" charset="-120"/>
              </a:rPr>
              <a:t>0.46 s</a:t>
            </a:r>
            <a:endParaRPr lang="en-US" sz="1300" dirty="0"/>
          </a:p>
        </p:txBody>
      </p:sp>
      <p:sp>
        <p:nvSpPr>
          <p:cNvPr id="23" name="Text 21"/>
          <p:cNvSpPr/>
          <p:nvPr/>
        </p:nvSpPr>
        <p:spPr>
          <a:xfrm>
            <a:off x="9052560" y="5303520"/>
            <a:ext cx="2423160" cy="548640"/>
          </a:xfrm>
          <a:prstGeom prst="rect">
            <a:avLst/>
          </a:prstGeom>
          <a:noFill/>
          <a:ln/>
        </p:spPr>
        <p:txBody>
          <a:bodyPr wrap="square" lIns="0" tIns="0" rIns="0" bIns="0" rtlCol="0" anchor="ctr"/>
          <a:lstStyle/>
          <a:p>
            <a:pPr algn="r" indent="0" marL="0">
              <a:buNone/>
            </a:pPr>
            <a:r>
              <a:rPr lang="en-US" sz="1300" b="1" dirty="0">
                <a:solidFill>
                  <a:srgbClr val="3FB9A0"/>
                </a:solidFill>
                <a:latin typeface="Courier New" pitchFamily="34" charset="0"/>
                <a:ea typeface="Courier New" pitchFamily="34" charset="-122"/>
                <a:cs typeface="Courier New" pitchFamily="34" charset="-120"/>
              </a:rPr>
              <a:t>0.46 s</a:t>
            </a:r>
            <a:endParaRPr lang="en-US" sz="1300" dirty="0"/>
          </a:p>
        </p:txBody>
      </p:sp>
      <p:sp>
        <p:nvSpPr>
          <p:cNvPr id="24" name="Text 22"/>
          <p:cNvSpPr/>
          <p:nvPr/>
        </p:nvSpPr>
        <p:spPr>
          <a:xfrm>
            <a:off x="502920" y="6035040"/>
            <a:ext cx="10881360" cy="457200"/>
          </a:xfrm>
          <a:prstGeom prst="rect">
            <a:avLst/>
          </a:prstGeom>
          <a:noFill/>
          <a:ln/>
        </p:spPr>
        <p:txBody>
          <a:bodyPr wrap="square" lIns="0" tIns="0" rIns="0" bIns="0" rtlCol="0" anchor="ctr"/>
          <a:lstStyle/>
          <a:p>
            <a:pPr indent="0" marL="0">
              <a:lnSpc>
                <a:spcPts val="1500"/>
              </a:lnSpc>
              <a:buNone/>
            </a:pPr>
            <a:r>
              <a:rPr lang="en-US" sz="1100" dirty="0">
                <a:solidFill>
                  <a:srgbClr val="8B98A8"/>
                </a:solidFill>
                <a:latin typeface="Calibri" pitchFamily="34" charset="0"/>
                <a:ea typeface="Calibri" pitchFamily="34" charset="-122"/>
                <a:cs typeface="Calibri" pitchFamily="34" charset="-120"/>
              </a:rPr>
              <a:t>The decoy sat behind a OnceLock, so the first unknown-username login per process computed it and then verified against it — two Argon2 passes where a real account costs one. Found in a stray outlier in an unrelated throttle test.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02920" y="438912"/>
            <a:ext cx="420624" cy="420624"/>
          </a:xfrm>
          <a:prstGeom prst="ellipse">
            <a:avLst/>
          </a:prstGeom>
          <a:solidFill>
            <a:srgbClr val="E86A33"/>
          </a:solidFill>
          <a:ln/>
        </p:spPr>
      </p:sp>
      <p:sp>
        <p:nvSpPr>
          <p:cNvPr id="3" name="Text 1"/>
          <p:cNvSpPr/>
          <p:nvPr/>
        </p:nvSpPr>
        <p:spPr>
          <a:xfrm>
            <a:off x="502920" y="438912"/>
            <a:ext cx="420624" cy="420624"/>
          </a:xfrm>
          <a:prstGeom prst="rect">
            <a:avLst/>
          </a:prstGeom>
          <a:noFill/>
          <a:ln/>
        </p:spPr>
        <p:txBody>
          <a:bodyPr wrap="square" lIns="0" tIns="0" rIns="0" bIns="0" rtlCol="0" anchor="ctr"/>
          <a:lstStyle/>
          <a:p>
            <a:pPr algn="ctr" indent="0" marL="0">
              <a:buNone/>
            </a:pPr>
            <a:r>
              <a:rPr lang="en-US" sz="1300" b="1" dirty="0">
                <a:solidFill>
                  <a:srgbClr val="0E1116"/>
                </a:solidFill>
                <a:latin typeface="Calibri" pitchFamily="34" charset="0"/>
                <a:ea typeface="Calibri" pitchFamily="34" charset="-122"/>
                <a:cs typeface="Calibri" pitchFamily="34" charset="-120"/>
              </a:rPr>
              <a:t>08</a:t>
            </a:r>
            <a:endParaRPr lang="en-US" sz="1300" dirty="0"/>
          </a:p>
        </p:txBody>
      </p:sp>
      <p:sp>
        <p:nvSpPr>
          <p:cNvPr id="4" name="Text 2"/>
          <p:cNvSpPr/>
          <p:nvPr/>
        </p:nvSpPr>
        <p:spPr>
          <a:xfrm>
            <a:off x="1106424" y="438912"/>
            <a:ext cx="8229600" cy="420624"/>
          </a:xfrm>
          <a:prstGeom prst="rect">
            <a:avLst/>
          </a:prstGeom>
          <a:noFill/>
          <a:ln/>
        </p:spPr>
        <p:txBody>
          <a:bodyPr wrap="square" lIns="0" tIns="0" rIns="0" bIns="0" rtlCol="0" anchor="ctr"/>
          <a:lstStyle/>
          <a:p>
            <a:pPr indent="0" marL="0">
              <a:buNone/>
            </a:pPr>
            <a:r>
              <a:rPr lang="en-US" sz="1100" spc="240" kern="0" dirty="0">
                <a:solidFill>
                  <a:srgbClr val="8B98A8"/>
                </a:solidFill>
                <a:latin typeface="Calibri" pitchFamily="34" charset="0"/>
                <a:ea typeface="Calibri" pitchFamily="34" charset="-122"/>
                <a:cs typeface="Calibri" pitchFamily="34" charset="-120"/>
              </a:rPr>
              <a:t>WHERE AI GOT IT WRONG</a:t>
            </a:r>
            <a:endParaRPr lang="en-US" sz="1100" dirty="0"/>
          </a:p>
        </p:txBody>
      </p:sp>
      <p:sp>
        <p:nvSpPr>
          <p:cNvPr id="5" name="Text 3"/>
          <p:cNvSpPr/>
          <p:nvPr/>
        </p:nvSpPr>
        <p:spPr>
          <a:xfrm>
            <a:off x="502920" y="1024128"/>
            <a:ext cx="11155680" cy="841248"/>
          </a:xfrm>
          <a:prstGeom prst="rect">
            <a:avLst/>
          </a:prstGeom>
          <a:noFill/>
          <a:ln/>
        </p:spPr>
        <p:txBody>
          <a:bodyPr wrap="square" lIns="0" tIns="0" rIns="0" bIns="0" rtlCol="0" anchor="t"/>
          <a:lstStyle/>
          <a:p>
            <a:pPr indent="0" marL="0">
              <a:buNone/>
            </a:pPr>
            <a:r>
              <a:rPr lang="en-US" sz="3300" b="1" dirty="0">
                <a:solidFill>
                  <a:srgbClr val="E9EDF2"/>
                </a:solidFill>
                <a:latin typeface="Cambria" pitchFamily="34" charset="0"/>
                <a:ea typeface="Cambria" pitchFamily="34" charset="-122"/>
                <a:cs typeface="Cambria" pitchFamily="34" charset="-120"/>
              </a:rPr>
              <a:t>Three, ascending by cost.</a:t>
            </a:r>
            <a:endParaRPr lang="en-US" sz="3300" dirty="0"/>
          </a:p>
        </p:txBody>
      </p:sp>
      <p:sp>
        <p:nvSpPr>
          <p:cNvPr id="6" name="Shape 4"/>
          <p:cNvSpPr/>
          <p:nvPr/>
        </p:nvSpPr>
        <p:spPr>
          <a:xfrm>
            <a:off x="502920" y="1938528"/>
            <a:ext cx="3520440" cy="1874520"/>
          </a:xfrm>
          <a:prstGeom prst="roundRect">
            <a:avLst>
              <a:gd name="adj" fmla="val 2439"/>
            </a:avLst>
          </a:prstGeom>
          <a:solidFill>
            <a:srgbClr val="171C24"/>
          </a:solidFill>
          <a:ln w="12700">
            <a:solidFill>
              <a:srgbClr val="2A323D"/>
            </a:solidFill>
            <a:prstDash val="solid"/>
          </a:ln>
        </p:spPr>
      </p:sp>
      <p:sp>
        <p:nvSpPr>
          <p:cNvPr id="7" name="Shape 5"/>
          <p:cNvSpPr/>
          <p:nvPr/>
        </p:nvSpPr>
        <p:spPr>
          <a:xfrm>
            <a:off x="740664" y="2139696"/>
            <a:ext cx="365760" cy="365760"/>
          </a:xfrm>
          <a:prstGeom prst="ellipse">
            <a:avLst/>
          </a:prstGeom>
          <a:solidFill>
            <a:srgbClr val="232B36"/>
          </a:solidFill>
          <a:ln/>
        </p:spPr>
      </p:sp>
      <p:sp>
        <p:nvSpPr>
          <p:cNvPr id="8" name="Text 6"/>
          <p:cNvSpPr/>
          <p:nvPr/>
        </p:nvSpPr>
        <p:spPr>
          <a:xfrm>
            <a:off x="740664" y="2139696"/>
            <a:ext cx="365760" cy="365760"/>
          </a:xfrm>
          <a:prstGeom prst="rect">
            <a:avLst/>
          </a:prstGeom>
          <a:noFill/>
          <a:ln/>
        </p:spPr>
        <p:txBody>
          <a:bodyPr wrap="square" lIns="0" tIns="0" rIns="0" bIns="0" rtlCol="0" anchor="ctr"/>
          <a:lstStyle/>
          <a:p>
            <a:pPr algn="ctr" indent="0" marL="0">
              <a:buNone/>
            </a:pPr>
            <a:r>
              <a:rPr lang="en-US" sz="1050" b="1" dirty="0">
                <a:solidFill>
                  <a:srgbClr val="8B98A8"/>
                </a:solidFill>
                <a:latin typeface="Calibri" pitchFamily="34" charset="0"/>
                <a:ea typeface="Calibri" pitchFamily="34" charset="-122"/>
                <a:cs typeface="Calibri" pitchFamily="34" charset="-120"/>
              </a:rPr>
              <a:t>01</a:t>
            </a:r>
            <a:endParaRPr lang="en-US" sz="1050" dirty="0"/>
          </a:p>
        </p:txBody>
      </p:sp>
      <p:sp>
        <p:nvSpPr>
          <p:cNvPr id="9" name="Text 7"/>
          <p:cNvSpPr/>
          <p:nvPr/>
        </p:nvSpPr>
        <p:spPr>
          <a:xfrm>
            <a:off x="1216152" y="2139696"/>
            <a:ext cx="2560320" cy="365760"/>
          </a:xfrm>
          <a:prstGeom prst="rect">
            <a:avLst/>
          </a:prstGeom>
          <a:noFill/>
          <a:ln/>
        </p:spPr>
        <p:txBody>
          <a:bodyPr wrap="square" lIns="0" tIns="0" rIns="0" bIns="0" rtlCol="0" anchor="ctr"/>
          <a:lstStyle/>
          <a:p>
            <a:pPr indent="0" marL="0">
              <a:buNone/>
            </a:pPr>
            <a:r>
              <a:rPr lang="en-US" sz="1350" b="1" dirty="0">
                <a:solidFill>
                  <a:srgbClr val="E9EDF2"/>
                </a:solidFill>
                <a:latin typeface="Calibri" pitchFamily="34" charset="0"/>
                <a:ea typeface="Calibri" pitchFamily="34" charset="-122"/>
                <a:cs typeface="Calibri" pitchFamily="34" charset="-120"/>
              </a:rPr>
              <a:t>Reflex</a:t>
            </a:r>
            <a:endParaRPr lang="en-US" sz="1350" dirty="0"/>
          </a:p>
        </p:txBody>
      </p:sp>
      <p:sp>
        <p:nvSpPr>
          <p:cNvPr id="10" name="Text 8"/>
          <p:cNvSpPr/>
          <p:nvPr/>
        </p:nvSpPr>
        <p:spPr>
          <a:xfrm>
            <a:off x="740664" y="2596896"/>
            <a:ext cx="3063240" cy="1078992"/>
          </a:xfrm>
          <a:prstGeom prst="rect">
            <a:avLst/>
          </a:prstGeom>
          <a:noFill/>
          <a:ln/>
        </p:spPr>
        <p:txBody>
          <a:bodyPr wrap="square" lIns="0" tIns="0" rIns="0" bIns="0" rtlCol="0" anchor="ctr"/>
          <a:lstStyle/>
          <a:p>
            <a:pPr indent="0" marL="0">
              <a:lnSpc>
                <a:spcPts val="1450"/>
              </a:lnSpc>
              <a:buNone/>
            </a:pPr>
            <a:r>
              <a:rPr lang="en-US" sz="1050" dirty="0">
                <a:solidFill>
                  <a:srgbClr val="8B98A8"/>
                </a:solidFill>
                <a:latin typeface="Calibri" pitchFamily="34" charset="0"/>
                <a:ea typeface="Calibri" pitchFamily="34" charset="-122"/>
                <a:cs typeface="Calibri" pitchFamily="34" charset="-120"/>
              </a:rPr>
              <a:t>tokio::sync::Mutex because "it’s async code". No critical section here crosses an .await, so the std lock is correct and faster. The tell is a justification about the file, not about the code.</a:t>
            </a:r>
            <a:endParaRPr lang="en-US" sz="1050" dirty="0"/>
          </a:p>
        </p:txBody>
      </p:sp>
      <p:sp>
        <p:nvSpPr>
          <p:cNvPr id="11" name="Shape 9"/>
          <p:cNvSpPr/>
          <p:nvPr/>
        </p:nvSpPr>
        <p:spPr>
          <a:xfrm>
            <a:off x="4279392" y="1938528"/>
            <a:ext cx="3520440" cy="1874520"/>
          </a:xfrm>
          <a:prstGeom prst="roundRect">
            <a:avLst>
              <a:gd name="adj" fmla="val 2439"/>
            </a:avLst>
          </a:prstGeom>
          <a:solidFill>
            <a:srgbClr val="171C24"/>
          </a:solidFill>
          <a:ln w="12700">
            <a:solidFill>
              <a:srgbClr val="2A323D"/>
            </a:solidFill>
            <a:prstDash val="solid"/>
          </a:ln>
        </p:spPr>
      </p:sp>
      <p:sp>
        <p:nvSpPr>
          <p:cNvPr id="12" name="Shape 10"/>
          <p:cNvSpPr/>
          <p:nvPr/>
        </p:nvSpPr>
        <p:spPr>
          <a:xfrm>
            <a:off x="4517136" y="2139696"/>
            <a:ext cx="365760" cy="365760"/>
          </a:xfrm>
          <a:prstGeom prst="ellipse">
            <a:avLst/>
          </a:prstGeom>
          <a:solidFill>
            <a:srgbClr val="232B36"/>
          </a:solidFill>
          <a:ln/>
        </p:spPr>
      </p:sp>
      <p:sp>
        <p:nvSpPr>
          <p:cNvPr id="13" name="Text 11"/>
          <p:cNvSpPr/>
          <p:nvPr/>
        </p:nvSpPr>
        <p:spPr>
          <a:xfrm>
            <a:off x="4517136" y="2139696"/>
            <a:ext cx="365760" cy="365760"/>
          </a:xfrm>
          <a:prstGeom prst="rect">
            <a:avLst/>
          </a:prstGeom>
          <a:noFill/>
          <a:ln/>
        </p:spPr>
        <p:txBody>
          <a:bodyPr wrap="square" lIns="0" tIns="0" rIns="0" bIns="0" rtlCol="0" anchor="ctr"/>
          <a:lstStyle/>
          <a:p>
            <a:pPr algn="ctr" indent="0" marL="0">
              <a:buNone/>
            </a:pPr>
            <a:r>
              <a:rPr lang="en-US" sz="1050" b="1" dirty="0">
                <a:solidFill>
                  <a:srgbClr val="8B98A8"/>
                </a:solidFill>
                <a:latin typeface="Calibri" pitchFamily="34" charset="0"/>
                <a:ea typeface="Calibri" pitchFamily="34" charset="-122"/>
                <a:cs typeface="Calibri" pitchFamily="34" charset="-120"/>
              </a:rPr>
              <a:t>02</a:t>
            </a:r>
            <a:endParaRPr lang="en-US" sz="1050" dirty="0"/>
          </a:p>
        </p:txBody>
      </p:sp>
      <p:sp>
        <p:nvSpPr>
          <p:cNvPr id="14" name="Text 12"/>
          <p:cNvSpPr/>
          <p:nvPr/>
        </p:nvSpPr>
        <p:spPr>
          <a:xfrm>
            <a:off x="4992624" y="2139696"/>
            <a:ext cx="2560320" cy="365760"/>
          </a:xfrm>
          <a:prstGeom prst="rect">
            <a:avLst/>
          </a:prstGeom>
          <a:noFill/>
          <a:ln/>
        </p:spPr>
        <p:txBody>
          <a:bodyPr wrap="square" lIns="0" tIns="0" rIns="0" bIns="0" rtlCol="0" anchor="ctr"/>
          <a:lstStyle/>
          <a:p>
            <a:pPr indent="0" marL="0">
              <a:buNone/>
            </a:pPr>
            <a:r>
              <a:rPr lang="en-US" sz="1350" b="1" dirty="0">
                <a:solidFill>
                  <a:srgbClr val="E9EDF2"/>
                </a:solidFill>
                <a:latin typeface="Calibri" pitchFamily="34" charset="0"/>
                <a:ea typeface="Calibri" pitchFamily="34" charset="-122"/>
                <a:cs typeface="Calibri" pitchFamily="34" charset="-120"/>
              </a:rPr>
              <a:t>Silent leak</a:t>
            </a:r>
            <a:endParaRPr lang="en-US" sz="1350" dirty="0"/>
          </a:p>
        </p:txBody>
      </p:sp>
      <p:sp>
        <p:nvSpPr>
          <p:cNvPr id="15" name="Text 13"/>
          <p:cNvSpPr/>
          <p:nvPr/>
        </p:nvSpPr>
        <p:spPr>
          <a:xfrm>
            <a:off x="4517136" y="2596896"/>
            <a:ext cx="3063240" cy="1078992"/>
          </a:xfrm>
          <a:prstGeom prst="rect">
            <a:avLst/>
          </a:prstGeom>
          <a:noFill/>
          <a:ln/>
        </p:spPr>
        <p:txBody>
          <a:bodyPr wrap="square" lIns="0" tIns="0" rIns="0" bIns="0" rtlCol="0" anchor="ctr"/>
          <a:lstStyle/>
          <a:p>
            <a:pPr indent="0" marL="0">
              <a:lnSpc>
                <a:spcPts val="1450"/>
              </a:lnSpc>
              <a:buNone/>
            </a:pPr>
            <a:r>
              <a:rPr lang="en-US" sz="1050" dirty="0">
                <a:solidFill>
                  <a:srgbClr val="8B98A8"/>
                </a:solidFill>
                <a:latin typeface="Calibri" pitchFamily="34" charset="0"/>
                <a:ea typeface="Calibri" pitchFamily="34" charset="-122"/>
                <a:cs typeface="Calibri" pitchFamily="34" charset="-120"/>
              </a:rPr>
              <a:t>#[derive(Debug)] on a struct holding jwt_secret. One tracing::debug!(?config) from putting the signing key in the log aggregator. Nothing warns — not rustc, not clippy.</a:t>
            </a:r>
            <a:endParaRPr lang="en-US" sz="1050" dirty="0"/>
          </a:p>
        </p:txBody>
      </p:sp>
      <p:sp>
        <p:nvSpPr>
          <p:cNvPr id="16" name="Shape 14"/>
          <p:cNvSpPr/>
          <p:nvPr/>
        </p:nvSpPr>
        <p:spPr>
          <a:xfrm>
            <a:off x="8055864" y="1938528"/>
            <a:ext cx="3520440" cy="1874520"/>
          </a:xfrm>
          <a:prstGeom prst="roundRect">
            <a:avLst>
              <a:gd name="adj" fmla="val 2439"/>
            </a:avLst>
          </a:prstGeom>
          <a:solidFill>
            <a:srgbClr val="221A16"/>
          </a:solidFill>
          <a:ln w="12700">
            <a:solidFill>
              <a:srgbClr val="2A323D"/>
            </a:solidFill>
            <a:prstDash val="solid"/>
          </a:ln>
        </p:spPr>
      </p:sp>
      <p:sp>
        <p:nvSpPr>
          <p:cNvPr id="17" name="Shape 15"/>
          <p:cNvSpPr/>
          <p:nvPr/>
        </p:nvSpPr>
        <p:spPr>
          <a:xfrm>
            <a:off x="8055864" y="1938528"/>
            <a:ext cx="3520440" cy="1874520"/>
          </a:xfrm>
          <a:prstGeom prst="roundRect">
            <a:avLst>
              <a:gd name="adj" fmla="val 2439"/>
            </a:avLst>
          </a:prstGeom>
          <a:solidFill>
            <a:srgbClr val="221A16"/>
          </a:solidFill>
          <a:ln w="15875">
            <a:solidFill>
              <a:srgbClr val="E86A33"/>
            </a:solidFill>
            <a:prstDash val="solid"/>
          </a:ln>
        </p:spPr>
      </p:sp>
      <p:sp>
        <p:nvSpPr>
          <p:cNvPr id="18" name="Shape 16"/>
          <p:cNvSpPr/>
          <p:nvPr/>
        </p:nvSpPr>
        <p:spPr>
          <a:xfrm>
            <a:off x="8293608" y="2139696"/>
            <a:ext cx="365760" cy="365760"/>
          </a:xfrm>
          <a:prstGeom prst="ellipse">
            <a:avLst/>
          </a:prstGeom>
          <a:solidFill>
            <a:srgbClr val="E86A33"/>
          </a:solidFill>
          <a:ln/>
        </p:spPr>
      </p:sp>
      <p:sp>
        <p:nvSpPr>
          <p:cNvPr id="19" name="Text 17"/>
          <p:cNvSpPr/>
          <p:nvPr/>
        </p:nvSpPr>
        <p:spPr>
          <a:xfrm>
            <a:off x="8293608" y="2139696"/>
            <a:ext cx="365760" cy="365760"/>
          </a:xfrm>
          <a:prstGeom prst="rect">
            <a:avLst/>
          </a:prstGeom>
          <a:noFill/>
          <a:ln/>
        </p:spPr>
        <p:txBody>
          <a:bodyPr wrap="square" lIns="0" tIns="0" rIns="0" bIns="0" rtlCol="0" anchor="ctr"/>
          <a:lstStyle/>
          <a:p>
            <a:pPr algn="ctr" indent="0" marL="0">
              <a:buNone/>
            </a:pPr>
            <a:r>
              <a:rPr lang="en-US" sz="1050" b="1" dirty="0">
                <a:solidFill>
                  <a:srgbClr val="0E1116"/>
                </a:solidFill>
                <a:latin typeface="Calibri" pitchFamily="34" charset="0"/>
                <a:ea typeface="Calibri" pitchFamily="34" charset="-122"/>
                <a:cs typeface="Calibri" pitchFamily="34" charset="-120"/>
              </a:rPr>
              <a:t>03</a:t>
            </a:r>
            <a:endParaRPr lang="en-US" sz="1050" dirty="0"/>
          </a:p>
        </p:txBody>
      </p:sp>
      <p:sp>
        <p:nvSpPr>
          <p:cNvPr id="20" name="Text 18"/>
          <p:cNvSpPr/>
          <p:nvPr/>
        </p:nvSpPr>
        <p:spPr>
          <a:xfrm>
            <a:off x="8769096" y="2139696"/>
            <a:ext cx="2560320" cy="365760"/>
          </a:xfrm>
          <a:prstGeom prst="rect">
            <a:avLst/>
          </a:prstGeom>
          <a:noFill/>
          <a:ln/>
        </p:spPr>
        <p:txBody>
          <a:bodyPr wrap="square" lIns="0" tIns="0" rIns="0" bIns="0" rtlCol="0" anchor="ctr"/>
          <a:lstStyle/>
          <a:p>
            <a:pPr indent="0" marL="0">
              <a:buNone/>
            </a:pPr>
            <a:r>
              <a:rPr lang="en-US" sz="1350" b="1" dirty="0">
                <a:solidFill>
                  <a:srgbClr val="E86A33"/>
                </a:solidFill>
                <a:latin typeface="Calibri" pitchFamily="34" charset="0"/>
                <a:ea typeface="Calibri" pitchFamily="34" charset="-122"/>
                <a:cs typeface="Calibri" pitchFamily="34" charset="-120"/>
              </a:rPr>
              <a:t>A vacuous test</a:t>
            </a:r>
            <a:endParaRPr lang="en-US" sz="1350" dirty="0"/>
          </a:p>
        </p:txBody>
      </p:sp>
      <p:sp>
        <p:nvSpPr>
          <p:cNvPr id="21" name="Text 19"/>
          <p:cNvSpPr/>
          <p:nvPr/>
        </p:nvSpPr>
        <p:spPr>
          <a:xfrm>
            <a:off x="8293608" y="2596896"/>
            <a:ext cx="3063240" cy="1078992"/>
          </a:xfrm>
          <a:prstGeom prst="rect">
            <a:avLst/>
          </a:prstGeom>
          <a:noFill/>
          <a:ln/>
        </p:spPr>
        <p:txBody>
          <a:bodyPr wrap="square" lIns="0" tIns="0" rIns="0" bIns="0" rtlCol="0" anchor="ctr"/>
          <a:lstStyle/>
          <a:p>
            <a:pPr indent="0" marL="0">
              <a:lnSpc>
                <a:spcPts val="1450"/>
              </a:lnSpc>
              <a:buNone/>
            </a:pPr>
            <a:r>
              <a:rPr lang="en-US" sz="1050" dirty="0">
                <a:solidFill>
                  <a:srgbClr val="8B98A8"/>
                </a:solidFill>
                <a:latin typeface="Calibri" pitchFamily="34" charset="0"/>
                <a:ea typeface="Calibri" pitchFamily="34" charset="-122"/>
                <a:cs typeface="Calibri" pitchFamily="34" charset="-120"/>
              </a:rPr>
              <a:t>My own. 64 writers, assert version is 65. It passed on deliberately broken code — last-write-wins also accepts every write and also bumps the version.</a:t>
            </a:r>
            <a:endParaRPr lang="en-US" sz="1050" dirty="0"/>
          </a:p>
        </p:txBody>
      </p:sp>
      <p:sp>
        <p:nvSpPr>
          <p:cNvPr id="22" name="Shape 20"/>
          <p:cNvSpPr/>
          <p:nvPr/>
        </p:nvSpPr>
        <p:spPr>
          <a:xfrm>
            <a:off x="502920" y="4059936"/>
            <a:ext cx="11155680" cy="1207008"/>
          </a:xfrm>
          <a:prstGeom prst="roundRect">
            <a:avLst>
              <a:gd name="adj" fmla="val 3788"/>
            </a:avLst>
          </a:prstGeom>
          <a:solidFill>
            <a:srgbClr val="11151B"/>
          </a:solidFill>
          <a:ln w="12700">
            <a:solidFill>
              <a:srgbClr val="2A323D"/>
            </a:solidFill>
            <a:prstDash val="solid"/>
          </a:ln>
        </p:spPr>
      </p:sp>
      <p:sp>
        <p:nvSpPr>
          <p:cNvPr id="23" name="Text 21"/>
          <p:cNvSpPr/>
          <p:nvPr/>
        </p:nvSpPr>
        <p:spPr>
          <a:xfrm>
            <a:off x="667512" y="4178808"/>
            <a:ext cx="10826496" cy="969264"/>
          </a:xfrm>
          <a:prstGeom prst="rect">
            <a:avLst/>
          </a:prstGeom>
          <a:noFill/>
          <a:ln/>
        </p:spPr>
        <p:txBody>
          <a:bodyPr wrap="square" lIns="0" tIns="0" rIns="0" bIns="0" rtlCol="0" anchor="t"/>
          <a:lstStyle/>
          <a:p>
            <a:pPr indent="0" marL="0">
              <a:lnSpc>
                <a:spcPts val="1500"/>
              </a:lnSpc>
              <a:buNone/>
            </a:pPr>
            <a:r>
              <a:rPr lang="en-US" sz="1050" dirty="0">
                <a:solidFill>
                  <a:srgbClr val="C7D0DB"/>
                </a:solidFill>
                <a:latin typeface="Courier New" pitchFamily="34" charset="0"/>
                <a:ea typeface="Courier New" pitchFamily="34" charset="-122"/>
                <a:cs typeface="Courier New" pitchFamily="34" charset="-120"/>
              </a:rPr>
              <a:t>MUTANT: compare-and-swap predicate removed</a:t>
            </a:r>
            <a:endParaRPr lang="en-US" sz="1050" dirty="0"/>
          </a:p>
          <a:p>
            <a:pPr indent="0" marL="0">
              <a:lnSpc>
                <a:spcPts val="1500"/>
              </a:lnSpc>
              <a:buNone/>
            </a:pPr>
            <a:r>
              <a:rPr lang="en-US" sz="1050" dirty="0">
                <a:solidFill>
                  <a:srgbClr val="C7D0DB"/>
                </a:solidFill>
                <a:latin typeface="Courier New" pitchFamily="34" charset="0"/>
                <a:ea typeface="Courier New" pitchFamily="34" charset="-122"/>
                <a:cs typeface="Courier New" pitchFamily="34" charset="-120"/>
              </a:rPr>
              <a:t>FAILED  stale_update_is_rejected</a:t>
            </a:r>
            <a:endParaRPr lang="en-US" sz="1050" dirty="0"/>
          </a:p>
          <a:p>
            <a:pPr indent="0" marL="0">
              <a:lnSpc>
                <a:spcPts val="1500"/>
              </a:lnSpc>
              <a:buNone/>
            </a:pPr>
            <a:r>
              <a:rPr lang="en-US" sz="1050" dirty="0">
                <a:solidFill>
                  <a:srgbClr val="C7D0DB"/>
                </a:solidFill>
                <a:latin typeface="Courier New" pitchFamily="34" charset="0"/>
                <a:ea typeface="Courier New" pitchFamily="34" charset="-122"/>
                <a:cs typeface="Courier New" pitchFamily="34" charset="-120"/>
              </a:rPr>
              <a:t>FAILED  concurrent_increments_never_lose_an_update</a:t>
            </a:r>
            <a:endParaRPr lang="en-US" sz="1050" dirty="0"/>
          </a:p>
          <a:p>
            <a:pPr indent="0" marL="0">
              <a:lnSpc>
                <a:spcPts val="1500"/>
              </a:lnSpc>
              <a:buNone/>
            </a:pPr>
            <a:r>
              <a:rPr lang="en-US" sz="1050" dirty="0">
                <a:solidFill>
                  <a:srgbClr val="C7D0DB"/>
                </a:solidFill>
                <a:latin typeface="Courier New" pitchFamily="34" charset="0"/>
                <a:ea typeface="Courier New" pitchFamily="34" charset="-122"/>
                <a:cs typeface="Courier New" pitchFamily="34" charset="-120"/>
              </a:rPr>
              <a:t>ok      concurrent_writes_are_never_torn   &lt;-- correctly survives: the mutex is untouched</a:t>
            </a:r>
            <a:endParaRPr lang="en-US" sz="1050" dirty="0"/>
          </a:p>
        </p:txBody>
      </p:sp>
      <p:sp>
        <p:nvSpPr>
          <p:cNvPr id="24" name="Text 22"/>
          <p:cNvSpPr/>
          <p:nvPr/>
        </p:nvSpPr>
        <p:spPr>
          <a:xfrm>
            <a:off x="502920" y="5431536"/>
            <a:ext cx="10881360" cy="603504"/>
          </a:xfrm>
          <a:prstGeom prst="rect">
            <a:avLst/>
          </a:prstGeom>
          <a:noFill/>
          <a:ln/>
        </p:spPr>
        <p:txBody>
          <a:bodyPr wrap="square" lIns="0" tIns="0" rIns="0" bIns="0" rtlCol="0" anchor="ctr"/>
          <a:lstStyle/>
          <a:p>
            <a:pPr indent="0" marL="0">
              <a:lnSpc>
                <a:spcPts val="1650"/>
              </a:lnSpc>
              <a:buNone/>
            </a:pPr>
            <a:r>
              <a:rPr lang="en-US" sz="1200" dirty="0">
                <a:solidFill>
                  <a:srgbClr val="8B98A8"/>
                </a:solidFill>
                <a:latin typeface="Calibri" pitchFamily="34" charset="0"/>
                <a:ea typeface="Calibri" pitchFamily="34" charset="-122"/>
                <a:cs typeface="Calibri" pitchFamily="34" charset="-120"/>
              </a:rPr>
              <a:t>The fix was making each writer’s value depend on what it read — a shared counter, 64 increments, final must be 64. Counting accepted writes can never distinguish the two designs. A suite where every test dies on every mutation isn’t precise either.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02920" y="438912"/>
            <a:ext cx="420624" cy="420624"/>
          </a:xfrm>
          <a:prstGeom prst="ellipse">
            <a:avLst/>
          </a:prstGeom>
          <a:solidFill>
            <a:srgbClr val="E86A33"/>
          </a:solidFill>
          <a:ln/>
        </p:spPr>
      </p:sp>
      <p:sp>
        <p:nvSpPr>
          <p:cNvPr id="3" name="Text 1"/>
          <p:cNvSpPr/>
          <p:nvPr/>
        </p:nvSpPr>
        <p:spPr>
          <a:xfrm>
            <a:off x="502920" y="438912"/>
            <a:ext cx="420624" cy="420624"/>
          </a:xfrm>
          <a:prstGeom prst="rect">
            <a:avLst/>
          </a:prstGeom>
          <a:noFill/>
          <a:ln/>
        </p:spPr>
        <p:txBody>
          <a:bodyPr wrap="square" lIns="0" tIns="0" rIns="0" bIns="0" rtlCol="0" anchor="ctr"/>
          <a:lstStyle/>
          <a:p>
            <a:pPr algn="ctr" indent="0" marL="0">
              <a:buNone/>
            </a:pPr>
            <a:r>
              <a:rPr lang="en-US" sz="1300" b="1" dirty="0">
                <a:solidFill>
                  <a:srgbClr val="0E1116"/>
                </a:solidFill>
                <a:latin typeface="Calibri" pitchFamily="34" charset="0"/>
                <a:ea typeface="Calibri" pitchFamily="34" charset="-122"/>
                <a:cs typeface="Calibri" pitchFamily="34" charset="-120"/>
              </a:rPr>
              <a:t>09</a:t>
            </a:r>
            <a:endParaRPr lang="en-US" sz="1300" dirty="0"/>
          </a:p>
        </p:txBody>
      </p:sp>
      <p:sp>
        <p:nvSpPr>
          <p:cNvPr id="4" name="Text 2"/>
          <p:cNvSpPr/>
          <p:nvPr/>
        </p:nvSpPr>
        <p:spPr>
          <a:xfrm>
            <a:off x="1106424" y="438912"/>
            <a:ext cx="8229600" cy="420624"/>
          </a:xfrm>
          <a:prstGeom prst="rect">
            <a:avLst/>
          </a:prstGeom>
          <a:noFill/>
          <a:ln/>
        </p:spPr>
        <p:txBody>
          <a:bodyPr wrap="square" lIns="0" tIns="0" rIns="0" bIns="0" rtlCol="0" anchor="ctr"/>
          <a:lstStyle/>
          <a:p>
            <a:pPr indent="0" marL="0">
              <a:buNone/>
            </a:pPr>
            <a:r>
              <a:rPr lang="en-US" sz="1100" spc="240" kern="0" dirty="0">
                <a:solidFill>
                  <a:srgbClr val="8B98A8"/>
                </a:solidFill>
                <a:latin typeface="Calibri" pitchFamily="34" charset="0"/>
                <a:ea typeface="Calibri" pitchFamily="34" charset="-122"/>
                <a:cs typeface="Calibri" pitchFamily="34" charset="-120"/>
              </a:rPr>
              <a:t>AGENTIC REFLECTION</a:t>
            </a:r>
            <a:endParaRPr lang="en-US" sz="1100" dirty="0"/>
          </a:p>
        </p:txBody>
      </p:sp>
      <p:sp>
        <p:nvSpPr>
          <p:cNvPr id="5" name="Text 3"/>
          <p:cNvSpPr/>
          <p:nvPr/>
        </p:nvSpPr>
        <p:spPr>
          <a:xfrm>
            <a:off x="502920" y="1024128"/>
            <a:ext cx="11155680" cy="841248"/>
          </a:xfrm>
          <a:prstGeom prst="rect">
            <a:avLst/>
          </a:prstGeom>
          <a:noFill/>
          <a:ln/>
        </p:spPr>
        <p:txBody>
          <a:bodyPr wrap="square" lIns="0" tIns="0" rIns="0" bIns="0" rtlCol="0" anchor="t"/>
          <a:lstStyle/>
          <a:p>
            <a:pPr indent="0" marL="0">
              <a:buNone/>
            </a:pPr>
            <a:r>
              <a:rPr lang="en-US" sz="3300" b="1" dirty="0">
                <a:solidFill>
                  <a:srgbClr val="E9EDF2"/>
                </a:solidFill>
                <a:latin typeface="Cambria" pitchFamily="34" charset="0"/>
                <a:ea typeface="Cambria" pitchFamily="34" charset="-122"/>
                <a:cs typeface="Cambria" pitchFamily="34" charset="-120"/>
              </a:rPr>
              <a:t>Specify the invariant, design the falsification.</a:t>
            </a:r>
            <a:endParaRPr lang="en-US" sz="3300" dirty="0"/>
          </a:p>
        </p:txBody>
      </p:sp>
      <p:sp>
        <p:nvSpPr>
          <p:cNvPr id="6" name="Shape 4"/>
          <p:cNvSpPr/>
          <p:nvPr/>
        </p:nvSpPr>
        <p:spPr>
          <a:xfrm>
            <a:off x="502920" y="1938528"/>
            <a:ext cx="3520440" cy="2194560"/>
          </a:xfrm>
          <a:prstGeom prst="roundRect">
            <a:avLst>
              <a:gd name="adj" fmla="val 2083"/>
            </a:avLst>
          </a:prstGeom>
          <a:solidFill>
            <a:srgbClr val="171C24"/>
          </a:solidFill>
          <a:ln w="12700">
            <a:solidFill>
              <a:srgbClr val="2A323D"/>
            </a:solidFill>
            <a:prstDash val="solid"/>
          </a:ln>
        </p:spPr>
      </p:sp>
      <p:sp>
        <p:nvSpPr>
          <p:cNvPr id="7" name="Text 5"/>
          <p:cNvSpPr/>
          <p:nvPr/>
        </p:nvSpPr>
        <p:spPr>
          <a:xfrm>
            <a:off x="740664" y="2103120"/>
            <a:ext cx="3063240" cy="310896"/>
          </a:xfrm>
          <a:prstGeom prst="rect">
            <a:avLst/>
          </a:prstGeom>
          <a:noFill/>
          <a:ln/>
        </p:spPr>
        <p:txBody>
          <a:bodyPr wrap="square" lIns="0" tIns="0" rIns="0" bIns="0" rtlCol="0" anchor="ctr"/>
          <a:lstStyle/>
          <a:p>
            <a:pPr indent="0" marL="0">
              <a:buNone/>
            </a:pPr>
            <a:r>
              <a:rPr lang="en-US" sz="1400" b="1" dirty="0">
                <a:solidFill>
                  <a:srgbClr val="3FB9A0"/>
                </a:solidFill>
                <a:latin typeface="Calibri" pitchFamily="34" charset="0"/>
                <a:ea typeface="Calibri" pitchFamily="34" charset="-122"/>
                <a:cs typeface="Calibri" pitchFamily="34" charset="-120"/>
              </a:rPr>
              <a:t>Delegate</a:t>
            </a:r>
            <a:endParaRPr lang="en-US" sz="1400" dirty="0"/>
          </a:p>
        </p:txBody>
      </p:sp>
      <p:sp>
        <p:nvSpPr>
          <p:cNvPr id="8" name="Text 6"/>
          <p:cNvSpPr/>
          <p:nvPr/>
        </p:nvSpPr>
        <p:spPr>
          <a:xfrm>
            <a:off x="740664" y="2468880"/>
            <a:ext cx="3063240" cy="1536192"/>
          </a:xfrm>
          <a:prstGeom prst="rect">
            <a:avLst/>
          </a:prstGeom>
          <a:noFill/>
          <a:ln/>
        </p:spPr>
        <p:txBody>
          <a:bodyPr wrap="square" lIns="0" tIns="0" rIns="0" bIns="0" rtlCol="0" anchor="ctr"/>
          <a:lstStyle/>
          <a:p>
            <a:pPr indent="0" marL="0">
              <a:lnSpc>
                <a:spcPts val="1450"/>
              </a:lnSpc>
              <a:buNone/>
            </a:pPr>
            <a:r>
              <a:rPr lang="en-US" sz="1050" dirty="0">
                <a:solidFill>
                  <a:srgbClr val="8B98A8"/>
                </a:solidFill>
                <a:latin typeface="Calibri" pitchFamily="34" charset="0"/>
                <a:ea typeface="Calibri" pitchFamily="34" charset="-122"/>
                <a:cs typeface="Calibri" pitchFamily="34" charset="-120"/>
              </a:rPr>
              <a:t>Mechanical breadth. Scaffolding, the fourth endpoint that looks like the first three, exhaustive error paths, doc comments, guideline audits. Adversarial review — "what would make CI reject this" is a question an agent answers tirelessly and a human answers once.</a:t>
            </a:r>
            <a:endParaRPr lang="en-US" sz="1050" dirty="0"/>
          </a:p>
        </p:txBody>
      </p:sp>
      <p:sp>
        <p:nvSpPr>
          <p:cNvPr id="9" name="Shape 7"/>
          <p:cNvSpPr/>
          <p:nvPr/>
        </p:nvSpPr>
        <p:spPr>
          <a:xfrm>
            <a:off x="4279392" y="1938528"/>
            <a:ext cx="3520440" cy="2194560"/>
          </a:xfrm>
          <a:prstGeom prst="roundRect">
            <a:avLst>
              <a:gd name="adj" fmla="val 2083"/>
            </a:avLst>
          </a:prstGeom>
          <a:solidFill>
            <a:srgbClr val="171C24"/>
          </a:solidFill>
          <a:ln w="12700">
            <a:solidFill>
              <a:srgbClr val="2A323D"/>
            </a:solidFill>
            <a:prstDash val="solid"/>
          </a:ln>
        </p:spPr>
      </p:sp>
      <p:sp>
        <p:nvSpPr>
          <p:cNvPr id="10" name="Text 8"/>
          <p:cNvSpPr/>
          <p:nvPr/>
        </p:nvSpPr>
        <p:spPr>
          <a:xfrm>
            <a:off x="4517136" y="2103120"/>
            <a:ext cx="3063240" cy="310896"/>
          </a:xfrm>
          <a:prstGeom prst="rect">
            <a:avLst/>
          </a:prstGeom>
          <a:noFill/>
          <a:ln/>
        </p:spPr>
        <p:txBody>
          <a:bodyPr wrap="square" lIns="0" tIns="0" rIns="0" bIns="0" rtlCol="0" anchor="ctr"/>
          <a:lstStyle/>
          <a:p>
            <a:pPr indent="0" marL="0">
              <a:buNone/>
            </a:pPr>
            <a:r>
              <a:rPr lang="en-US" sz="1400" b="1" dirty="0">
                <a:solidFill>
                  <a:srgbClr val="E9EDF2"/>
                </a:solidFill>
                <a:latin typeface="Calibri" pitchFamily="34" charset="0"/>
                <a:ea typeface="Calibri" pitchFamily="34" charset="-122"/>
                <a:cs typeface="Calibri" pitchFamily="34" charset="-120"/>
              </a:rPr>
              <a:t>Keep deterministic</a:t>
            </a:r>
            <a:endParaRPr lang="en-US" sz="1400" dirty="0"/>
          </a:p>
        </p:txBody>
      </p:sp>
      <p:sp>
        <p:nvSpPr>
          <p:cNvPr id="11" name="Text 9"/>
          <p:cNvSpPr/>
          <p:nvPr/>
        </p:nvSpPr>
        <p:spPr>
          <a:xfrm>
            <a:off x="4517136" y="2468880"/>
            <a:ext cx="3063240" cy="1536192"/>
          </a:xfrm>
          <a:prstGeom prst="rect">
            <a:avLst/>
          </a:prstGeom>
          <a:noFill/>
          <a:ln/>
        </p:spPr>
        <p:txBody>
          <a:bodyPr wrap="square" lIns="0" tIns="0" rIns="0" bIns="0" rtlCol="0" anchor="ctr"/>
          <a:lstStyle/>
          <a:p>
            <a:pPr indent="0" marL="0">
              <a:lnSpc>
                <a:spcPts val="1450"/>
              </a:lnSpc>
              <a:buNone/>
            </a:pPr>
            <a:r>
              <a:rPr lang="en-US" sz="1050" dirty="0">
                <a:solidFill>
                  <a:srgbClr val="8B98A8"/>
                </a:solidFill>
                <a:latin typeface="Calibri" pitchFamily="34" charset="0"/>
                <a:ea typeface="Calibri" pitchFamily="34" charset="-122"/>
                <a:cs typeface="Calibri" pitchFamily="34" charset="-120"/>
              </a:rPr>
              <a:t>Anything where being right beats being fast and the check is cheap. forbid(unsafe_code), pedantic clippy, missing_docs, mutation runs. Policy an agent cannot argue with.</a:t>
            </a:r>
            <a:endParaRPr lang="en-US" sz="1050" dirty="0"/>
          </a:p>
        </p:txBody>
      </p:sp>
      <p:sp>
        <p:nvSpPr>
          <p:cNvPr id="12" name="Shape 10"/>
          <p:cNvSpPr/>
          <p:nvPr/>
        </p:nvSpPr>
        <p:spPr>
          <a:xfrm>
            <a:off x="8055864" y="1938528"/>
            <a:ext cx="3520440" cy="2194560"/>
          </a:xfrm>
          <a:prstGeom prst="roundRect">
            <a:avLst>
              <a:gd name="adj" fmla="val 2083"/>
            </a:avLst>
          </a:prstGeom>
          <a:solidFill>
            <a:srgbClr val="171C24"/>
          </a:solidFill>
          <a:ln w="12700">
            <a:solidFill>
              <a:srgbClr val="2A323D"/>
            </a:solidFill>
            <a:prstDash val="solid"/>
          </a:ln>
        </p:spPr>
      </p:sp>
      <p:sp>
        <p:nvSpPr>
          <p:cNvPr id="13" name="Text 11"/>
          <p:cNvSpPr/>
          <p:nvPr/>
        </p:nvSpPr>
        <p:spPr>
          <a:xfrm>
            <a:off x="8293608" y="2103120"/>
            <a:ext cx="3063240" cy="310896"/>
          </a:xfrm>
          <a:prstGeom prst="rect">
            <a:avLst/>
          </a:prstGeom>
          <a:noFill/>
          <a:ln/>
        </p:spPr>
        <p:txBody>
          <a:bodyPr wrap="square" lIns="0" tIns="0" rIns="0" bIns="0" rtlCol="0" anchor="ctr"/>
          <a:lstStyle/>
          <a:p>
            <a:pPr indent="0" marL="0">
              <a:buNone/>
            </a:pPr>
            <a:r>
              <a:rPr lang="en-US" sz="1400" b="1" dirty="0">
                <a:solidFill>
                  <a:srgbClr val="E86A33"/>
                </a:solidFill>
                <a:latin typeface="Calibri" pitchFamily="34" charset="0"/>
                <a:ea typeface="Calibri" pitchFamily="34" charset="-122"/>
                <a:cs typeface="Calibri" pitchFamily="34" charset="-120"/>
              </a:rPr>
              <a:t>Keep human</a:t>
            </a:r>
            <a:endParaRPr lang="en-US" sz="1400" dirty="0"/>
          </a:p>
        </p:txBody>
      </p:sp>
      <p:sp>
        <p:nvSpPr>
          <p:cNvPr id="14" name="Text 12"/>
          <p:cNvSpPr/>
          <p:nvPr/>
        </p:nvSpPr>
        <p:spPr>
          <a:xfrm>
            <a:off x="8293608" y="2468880"/>
            <a:ext cx="3063240" cy="1536192"/>
          </a:xfrm>
          <a:prstGeom prst="rect">
            <a:avLst/>
          </a:prstGeom>
          <a:noFill/>
          <a:ln/>
        </p:spPr>
        <p:txBody>
          <a:bodyPr wrap="square" lIns="0" tIns="0" rIns="0" bIns="0" rtlCol="0" anchor="ctr"/>
          <a:lstStyle/>
          <a:p>
            <a:pPr indent="0" marL="0">
              <a:lnSpc>
                <a:spcPts val="1450"/>
              </a:lnSpc>
              <a:buNone/>
            </a:pPr>
            <a:r>
              <a:rPr lang="en-US" sz="1050" dirty="0">
                <a:solidFill>
                  <a:srgbClr val="8B98A8"/>
                </a:solidFill>
                <a:latin typeface="Calibri" pitchFamily="34" charset="0"/>
                <a:ea typeface="Calibri" pitchFamily="34" charset="-122"/>
                <a:cs typeface="Calibri" pitchFamily="34" charset="-120"/>
              </a:rPr>
              <a:t>The trust boundary. Where the internal token is checked, what the gateway strips, whether If-Match is mandatory. An agent will happily make it optional because that’s friendlier, and nothing goes red.</a:t>
            </a:r>
            <a:endParaRPr lang="en-US" sz="1050" dirty="0"/>
          </a:p>
        </p:txBody>
      </p:sp>
      <p:sp>
        <p:nvSpPr>
          <p:cNvPr id="15" name="Shape 13"/>
          <p:cNvSpPr/>
          <p:nvPr/>
        </p:nvSpPr>
        <p:spPr>
          <a:xfrm>
            <a:off x="502920" y="4315968"/>
            <a:ext cx="5394960" cy="1874520"/>
          </a:xfrm>
          <a:prstGeom prst="roundRect">
            <a:avLst>
              <a:gd name="adj" fmla="val 2439"/>
            </a:avLst>
          </a:prstGeom>
          <a:solidFill>
            <a:srgbClr val="171C24"/>
          </a:solidFill>
          <a:ln w="12700">
            <a:solidFill>
              <a:srgbClr val="2A323D"/>
            </a:solidFill>
            <a:prstDash val="solid"/>
          </a:ln>
        </p:spPr>
      </p:sp>
      <p:sp>
        <p:nvSpPr>
          <p:cNvPr id="16" name="Text 14"/>
          <p:cNvSpPr/>
          <p:nvPr/>
        </p:nvSpPr>
        <p:spPr>
          <a:xfrm>
            <a:off x="740664" y="4480560"/>
            <a:ext cx="4937760" cy="310896"/>
          </a:xfrm>
          <a:prstGeom prst="rect">
            <a:avLst/>
          </a:prstGeom>
          <a:noFill/>
          <a:ln/>
        </p:spPr>
        <p:txBody>
          <a:bodyPr wrap="square" lIns="0" tIns="0" rIns="0" bIns="0" rtlCol="0" anchor="ctr"/>
          <a:lstStyle/>
          <a:p>
            <a:pPr indent="0" marL="0">
              <a:buNone/>
            </a:pPr>
            <a:r>
              <a:rPr lang="en-US" sz="1350" b="1" dirty="0">
                <a:solidFill>
                  <a:srgbClr val="E9EDF2"/>
                </a:solidFill>
                <a:latin typeface="Calibri" pitchFamily="34" charset="0"/>
                <a:ea typeface="Calibri" pitchFamily="34" charset="-122"/>
                <a:cs typeface="Calibri" pitchFamily="34" charset="-120"/>
              </a:rPr>
              <a:t>The engineer’s job</a:t>
            </a:r>
            <a:endParaRPr lang="en-US" sz="1350" dirty="0"/>
          </a:p>
        </p:txBody>
      </p:sp>
      <p:sp>
        <p:nvSpPr>
          <p:cNvPr id="17" name="Text 15"/>
          <p:cNvSpPr/>
          <p:nvPr/>
        </p:nvSpPr>
        <p:spPr>
          <a:xfrm>
            <a:off x="740664" y="4846320"/>
            <a:ext cx="4937760" cy="1207008"/>
          </a:xfrm>
          <a:prstGeom prst="rect">
            <a:avLst/>
          </a:prstGeom>
          <a:noFill/>
          <a:ln/>
        </p:spPr>
        <p:txBody>
          <a:bodyPr wrap="square" lIns="0" tIns="0" rIns="0" bIns="0" rtlCol="0" anchor="ctr"/>
          <a:lstStyle/>
          <a:p>
            <a:pPr indent="0" marL="0">
              <a:lnSpc>
                <a:spcPts val="1550"/>
              </a:lnSpc>
              <a:buNone/>
            </a:pPr>
            <a:r>
              <a:rPr lang="en-US" sz="1100" dirty="0">
                <a:solidFill>
                  <a:srgbClr val="8B98A8"/>
                </a:solidFill>
                <a:latin typeface="Calibri" pitchFamily="34" charset="0"/>
                <a:ea typeface="Calibri" pitchFamily="34" charset="-122"/>
                <a:cs typeface="Calibri" pitchFamily="34" charset="-120"/>
              </a:rPr>
              <a:t>The code was the cheap part. The expensive parts were deciding lost updates were the real requirement, and noticing the test for it proved nothing. Reviewing generated code line by line does not scale; deciding what would prove it wrong does.</a:t>
            </a:r>
            <a:endParaRPr lang="en-US" sz="1100" dirty="0"/>
          </a:p>
        </p:txBody>
      </p:sp>
      <p:sp>
        <p:nvSpPr>
          <p:cNvPr id="18" name="Shape 16"/>
          <p:cNvSpPr/>
          <p:nvPr/>
        </p:nvSpPr>
        <p:spPr>
          <a:xfrm>
            <a:off x="6172200" y="4315968"/>
            <a:ext cx="5394960" cy="1874520"/>
          </a:xfrm>
          <a:prstGeom prst="roundRect">
            <a:avLst>
              <a:gd name="adj" fmla="val 2439"/>
            </a:avLst>
          </a:prstGeom>
          <a:solidFill>
            <a:srgbClr val="171C24"/>
          </a:solidFill>
          <a:ln w="12700">
            <a:solidFill>
              <a:srgbClr val="2A323D"/>
            </a:solidFill>
            <a:prstDash val="solid"/>
          </a:ln>
        </p:spPr>
      </p:sp>
      <p:sp>
        <p:nvSpPr>
          <p:cNvPr id="19" name="Text 17"/>
          <p:cNvSpPr/>
          <p:nvPr/>
        </p:nvSpPr>
        <p:spPr>
          <a:xfrm>
            <a:off x="6409944" y="4480560"/>
            <a:ext cx="4937760" cy="310896"/>
          </a:xfrm>
          <a:prstGeom prst="rect">
            <a:avLst/>
          </a:prstGeom>
          <a:noFill/>
          <a:ln/>
        </p:spPr>
        <p:txBody>
          <a:bodyPr wrap="square" lIns="0" tIns="0" rIns="0" bIns="0" rtlCol="0" anchor="ctr"/>
          <a:lstStyle/>
          <a:p>
            <a:pPr indent="0" marL="0">
              <a:buNone/>
            </a:pPr>
            <a:r>
              <a:rPr lang="en-US" sz="1350" b="1" dirty="0">
                <a:solidFill>
                  <a:srgbClr val="E9EDF2"/>
                </a:solidFill>
                <a:latin typeface="Calibri" pitchFamily="34" charset="0"/>
                <a:ea typeface="Calibri" pitchFamily="34" charset="-122"/>
                <a:cs typeface="Calibri" pitchFamily="34" charset="-120"/>
              </a:rPr>
              <a:t>Getting context to an agent</a:t>
            </a:r>
            <a:endParaRPr lang="en-US" sz="1350" dirty="0"/>
          </a:p>
        </p:txBody>
      </p:sp>
      <p:sp>
        <p:nvSpPr>
          <p:cNvPr id="20" name="Text 18"/>
          <p:cNvSpPr/>
          <p:nvPr/>
        </p:nvSpPr>
        <p:spPr>
          <a:xfrm>
            <a:off x="6409944" y="4846320"/>
            <a:ext cx="4937760" cy="1207008"/>
          </a:xfrm>
          <a:prstGeom prst="rect">
            <a:avLst/>
          </a:prstGeom>
          <a:noFill/>
          <a:ln/>
        </p:spPr>
        <p:txBody>
          <a:bodyPr wrap="square" lIns="0" tIns="0" rIns="0" bIns="0" rtlCol="0" anchor="ctr"/>
          <a:lstStyle/>
          <a:p>
            <a:pPr indent="0" marL="0">
              <a:lnSpc>
                <a:spcPts val="1550"/>
              </a:lnSpc>
              <a:buNone/>
            </a:pPr>
            <a:r>
              <a:rPr lang="en-US" sz="1100" dirty="0">
                <a:solidFill>
                  <a:srgbClr val="8B98A8"/>
                </a:solidFill>
                <a:latin typeface="Calibri" pitchFamily="34" charset="0"/>
                <a:ea typeface="Calibri" pitchFamily="34" charset="-122"/>
                <a:cs typeface="Calibri" pitchFamily="34" charset="-120"/>
              </a:rPr>
              <a:t>Ascending by cost: commit it (README, architecture notes); encode it as executable checks so it’s enforced rather than remembered; give the agent tools to discover it — run the tests, curl the running service. Only genuinely external constraints go in the prompt.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02920" y="438912"/>
            <a:ext cx="420624" cy="420624"/>
          </a:xfrm>
          <a:prstGeom prst="ellipse">
            <a:avLst/>
          </a:prstGeom>
          <a:solidFill>
            <a:srgbClr val="E86A33"/>
          </a:solidFill>
          <a:ln/>
        </p:spPr>
      </p:sp>
      <p:sp>
        <p:nvSpPr>
          <p:cNvPr id="3" name="Text 1"/>
          <p:cNvSpPr/>
          <p:nvPr/>
        </p:nvSpPr>
        <p:spPr>
          <a:xfrm>
            <a:off x="502920" y="438912"/>
            <a:ext cx="420624" cy="420624"/>
          </a:xfrm>
          <a:prstGeom prst="rect">
            <a:avLst/>
          </a:prstGeom>
          <a:noFill/>
          <a:ln/>
        </p:spPr>
        <p:txBody>
          <a:bodyPr wrap="square" lIns="0" tIns="0" rIns="0" bIns="0" rtlCol="0" anchor="ctr"/>
          <a:lstStyle/>
          <a:p>
            <a:pPr algn="ctr" indent="0" marL="0">
              <a:buNone/>
            </a:pPr>
            <a:r>
              <a:rPr lang="en-US" sz="1300" b="1" dirty="0">
                <a:solidFill>
                  <a:srgbClr val="0E1116"/>
                </a:solidFill>
                <a:latin typeface="Calibri" pitchFamily="34" charset="0"/>
                <a:ea typeface="Calibri" pitchFamily="34" charset="-122"/>
                <a:cs typeface="Calibri" pitchFamily="34" charset="-120"/>
              </a:rPr>
              <a:t>10</a:t>
            </a:r>
            <a:endParaRPr lang="en-US" sz="1300" dirty="0"/>
          </a:p>
        </p:txBody>
      </p:sp>
      <p:sp>
        <p:nvSpPr>
          <p:cNvPr id="4" name="Text 2"/>
          <p:cNvSpPr/>
          <p:nvPr/>
        </p:nvSpPr>
        <p:spPr>
          <a:xfrm>
            <a:off x="1106424" y="438912"/>
            <a:ext cx="8229600" cy="420624"/>
          </a:xfrm>
          <a:prstGeom prst="rect">
            <a:avLst/>
          </a:prstGeom>
          <a:noFill/>
          <a:ln/>
        </p:spPr>
        <p:txBody>
          <a:bodyPr wrap="square" lIns="0" tIns="0" rIns="0" bIns="0" rtlCol="0" anchor="ctr"/>
          <a:lstStyle/>
          <a:p>
            <a:pPr indent="0" marL="0">
              <a:buNone/>
            </a:pPr>
            <a:r>
              <a:rPr lang="en-US" sz="1100" spc="240" kern="0" dirty="0">
                <a:solidFill>
                  <a:srgbClr val="8B98A8"/>
                </a:solidFill>
                <a:latin typeface="Calibri" pitchFamily="34" charset="0"/>
                <a:ea typeface="Calibri" pitchFamily="34" charset="-122"/>
                <a:cs typeface="Calibri" pitchFamily="34" charset="-120"/>
              </a:rPr>
              <a:t>WITH MORE TIME</a:t>
            </a:r>
            <a:endParaRPr lang="en-US" sz="1100" dirty="0"/>
          </a:p>
        </p:txBody>
      </p:sp>
      <p:sp>
        <p:nvSpPr>
          <p:cNvPr id="5" name="Text 3"/>
          <p:cNvSpPr/>
          <p:nvPr/>
        </p:nvSpPr>
        <p:spPr>
          <a:xfrm>
            <a:off x="502920" y="1024128"/>
            <a:ext cx="11155680" cy="841248"/>
          </a:xfrm>
          <a:prstGeom prst="rect">
            <a:avLst/>
          </a:prstGeom>
          <a:noFill/>
          <a:ln/>
        </p:spPr>
        <p:txBody>
          <a:bodyPr wrap="square" lIns="0" tIns="0" rIns="0" bIns="0" rtlCol="0" anchor="t"/>
          <a:lstStyle/>
          <a:p>
            <a:pPr indent="0" marL="0">
              <a:buNone/>
            </a:pPr>
            <a:r>
              <a:rPr lang="en-US" sz="3300" b="1" dirty="0">
                <a:solidFill>
                  <a:srgbClr val="E9EDF2"/>
                </a:solidFill>
                <a:latin typeface="Cambria" pitchFamily="34" charset="0"/>
                <a:ea typeface="Cambria" pitchFamily="34" charset="-122"/>
                <a:cs typeface="Cambria" pitchFamily="34" charset="-120"/>
              </a:rPr>
              <a:t>What I know is still wrong.</a:t>
            </a:r>
            <a:endParaRPr lang="en-US" sz="3300" dirty="0"/>
          </a:p>
        </p:txBody>
      </p:sp>
      <p:sp>
        <p:nvSpPr>
          <p:cNvPr id="6" name="Text 4"/>
          <p:cNvSpPr/>
          <p:nvPr/>
        </p:nvSpPr>
        <p:spPr>
          <a:xfrm>
            <a:off x="502920" y="1883664"/>
            <a:ext cx="5394960" cy="274320"/>
          </a:xfrm>
          <a:prstGeom prst="rect">
            <a:avLst/>
          </a:prstGeom>
          <a:noFill/>
          <a:ln/>
        </p:spPr>
        <p:txBody>
          <a:bodyPr wrap="square" lIns="0" tIns="0" rIns="0" bIns="0" rtlCol="0" anchor="ctr"/>
          <a:lstStyle/>
          <a:p>
            <a:pPr indent="0" marL="0">
              <a:buNone/>
            </a:pPr>
            <a:r>
              <a:rPr lang="en-US" sz="1000" spc="180" kern="0" dirty="0">
                <a:solidFill>
                  <a:srgbClr val="3FB9A0"/>
                </a:solidFill>
                <a:latin typeface="Calibri" pitchFamily="34" charset="0"/>
                <a:ea typeface="Calibri" pitchFamily="34" charset="-122"/>
                <a:cs typeface="Calibri" pitchFamily="34" charset="-120"/>
              </a:rPr>
              <a:t>CLOSED UNDER "IF THIS WERE A BANK"</a:t>
            </a:r>
            <a:endParaRPr lang="en-US" sz="1000" dirty="0"/>
          </a:p>
        </p:txBody>
      </p:sp>
      <p:sp>
        <p:nvSpPr>
          <p:cNvPr id="7" name="Shape 5"/>
          <p:cNvSpPr/>
          <p:nvPr/>
        </p:nvSpPr>
        <p:spPr>
          <a:xfrm>
            <a:off x="502920" y="2194560"/>
            <a:ext cx="5394960" cy="2542032"/>
          </a:xfrm>
          <a:prstGeom prst="roundRect">
            <a:avLst>
              <a:gd name="adj" fmla="val 1799"/>
            </a:avLst>
          </a:prstGeom>
          <a:solidFill>
            <a:srgbClr val="171C24"/>
          </a:solidFill>
          <a:ln w="12700">
            <a:solidFill>
              <a:srgbClr val="2A323D"/>
            </a:solidFill>
            <a:prstDash val="solid"/>
          </a:ln>
        </p:spPr>
      </p:sp>
      <p:sp>
        <p:nvSpPr>
          <p:cNvPr id="8" name="Text 6"/>
          <p:cNvSpPr/>
          <p:nvPr/>
        </p:nvSpPr>
        <p:spPr>
          <a:xfrm>
            <a:off x="740664" y="2340864"/>
            <a:ext cx="4937760" cy="2514600"/>
          </a:xfrm>
          <a:prstGeom prst="rect">
            <a:avLst/>
          </a:prstGeom>
          <a:noFill/>
          <a:ln/>
        </p:spPr>
        <p:txBody>
          <a:bodyPr wrap="square" lIns="0" tIns="0" rIns="0" bIns="0" rtlCol="0" anchor="ctr"/>
          <a:lstStyle/>
          <a:p>
            <a:pPr indent="0" marL="0">
              <a:lnSpc>
                <a:spcPts val="1450"/>
              </a:lnSpc>
              <a:buNone/>
            </a:pPr>
            <a:r>
              <a:rPr lang="en-US" sz="1050" b="1" dirty="0">
                <a:solidFill>
                  <a:srgbClr val="E9EDF2"/>
                </a:solidFill>
                <a:latin typeface="Calibri" pitchFamily="34" charset="0"/>
                <a:ea typeface="Calibri" pitchFamily="34" charset="-122"/>
                <a:cs typeface="Calibri" pitchFamily="34" charset="-120"/>
              </a:rPr>
              <a:t>Upstream timeouts</a:t>
            </a:r>
            <a:endParaRPr lang="en-US" sz="1050" dirty="0"/>
          </a:p>
          <a:p>
            <a:pPr indent="0" marL="0">
              <a:lnSpc>
                <a:spcPts val="1450"/>
              </a:lnSpc>
              <a:buNone/>
            </a:pPr>
            <a:r>
              <a:rPr lang="en-US" sz="1050" dirty="0">
                <a:solidFill>
                  <a:srgbClr val="8B98A8"/>
                </a:solidFill>
                <a:latin typeface="Calibri" pitchFamily="34" charset="0"/>
                <a:ea typeface="Calibri" pitchFamily="34" charset="-122"/>
                <a:cs typeface="Calibri" pitchFamily="34" charset="-120"/>
              </a:rPr>
              <a:t>reqwest has none by default; a hanging upstream hung every gateway request forever. Now 502 at 5.01 s.</a:t>
            </a:r>
            <a:endParaRPr lang="en-US" sz="1050" dirty="0"/>
          </a:p>
          <a:p>
            <a:pPr indent="0" marL="0">
              <a:lnSpc>
                <a:spcPts val="1450"/>
              </a:lnSpc>
              <a:buNone/>
            </a:pPr>
            <a:r>
              <a:rPr lang="en-US" sz="1050" b="1" dirty="0">
                <a:solidFill>
                  <a:srgbClr val="E9EDF2"/>
                </a:solidFill>
                <a:latin typeface="Calibri" pitchFamily="34" charset="0"/>
                <a:ea typeface="Calibri" pitchFamily="34" charset="-122"/>
                <a:cs typeface="Calibri" pitchFamily="34" charset="-120"/>
              </a:rPr>
              <a:t>Login memory bound</a:t>
            </a:r>
            <a:endParaRPr lang="en-US" sz="1050" dirty="0"/>
          </a:p>
          <a:p>
            <a:pPr indent="0" marL="0">
              <a:lnSpc>
                <a:spcPts val="1450"/>
              </a:lnSpc>
              <a:buNone/>
            </a:pPr>
            <a:r>
              <a:rPr lang="en-US" sz="1050" dirty="0">
                <a:solidFill>
                  <a:srgbClr val="8B98A8"/>
                </a:solidFill>
                <a:latin typeface="Calibri" pitchFamily="34" charset="0"/>
                <a:ea typeface="Calibri" pitchFamily="34" charset="-122"/>
                <a:cs typeface="Calibri" pitchFamily="34" charset="-120"/>
              </a:rPr>
              <a:t>Argon2 at 19 MiB × 512 blocking threads ≈ 9.7 GiB from one attacker. Now sheds with 503.</a:t>
            </a:r>
            <a:endParaRPr lang="en-US" sz="1050" dirty="0"/>
          </a:p>
          <a:p>
            <a:pPr indent="0" marL="0">
              <a:lnSpc>
                <a:spcPts val="1450"/>
              </a:lnSpc>
              <a:buNone/>
            </a:pPr>
            <a:r>
              <a:rPr lang="en-US" sz="1050" b="1" dirty="0">
                <a:solidFill>
                  <a:srgbClr val="E9EDF2"/>
                </a:solidFill>
                <a:latin typeface="Calibri" pitchFamily="34" charset="0"/>
                <a:ea typeface="Calibri" pitchFamily="34" charset="-122"/>
                <a:cs typeface="Calibri" pitchFamily="34" charset="-120"/>
              </a:rPr>
              <a:t>Audit trail</a:t>
            </a:r>
            <a:endParaRPr lang="en-US" sz="1050" dirty="0"/>
          </a:p>
          <a:p>
            <a:pPr indent="0" marL="0">
              <a:lnSpc>
                <a:spcPts val="1450"/>
              </a:lnSpc>
              <a:buNone/>
            </a:pPr>
            <a:r>
              <a:rPr lang="en-US" sz="1050" dirty="0">
                <a:solidFill>
                  <a:srgbClr val="8B98A8"/>
                </a:solidFill>
                <a:latin typeface="Calibri" pitchFamily="34" charset="0"/>
                <a:ea typeface="Calibri" pitchFamily="34" charset="-122"/>
                <a:cs typeface="Calibri" pitchFamily="34" charset="-120"/>
              </a:rPr>
              <a:t>A profile is a projection of its revisions. An address change is a KYC signal; overwriting destroyed the evidence.</a:t>
            </a:r>
            <a:endParaRPr lang="en-US" sz="1050" dirty="0"/>
          </a:p>
          <a:p>
            <a:pPr indent="0" marL="0">
              <a:lnSpc>
                <a:spcPts val="1450"/>
              </a:lnSpc>
              <a:buNone/>
            </a:pPr>
            <a:r>
              <a:rPr lang="en-US" sz="1050" i="1" dirty="0">
                <a:solidFill>
                  <a:srgbClr val="8B98A8"/>
                </a:solidFill>
                <a:latin typeface="Calibri" pitchFamily="34" charset="0"/>
                <a:ea typeface="Calibri" pitchFamily="34" charset="-122"/>
                <a:cs typeface="Calibri" pitchFamily="34" charset="-120"/>
              </a:rPr>
              <a:t>Idempotency, revocation, key rotation, throttling, correlation.</a:t>
            </a:r>
            <a:endParaRPr lang="en-US" sz="1050" dirty="0"/>
          </a:p>
        </p:txBody>
      </p:sp>
      <p:sp>
        <p:nvSpPr>
          <p:cNvPr id="9" name="Text 7"/>
          <p:cNvSpPr/>
          <p:nvPr/>
        </p:nvSpPr>
        <p:spPr>
          <a:xfrm>
            <a:off x="6263640" y="1883664"/>
            <a:ext cx="5394960" cy="274320"/>
          </a:xfrm>
          <a:prstGeom prst="rect">
            <a:avLst/>
          </a:prstGeom>
          <a:noFill/>
          <a:ln/>
        </p:spPr>
        <p:txBody>
          <a:bodyPr wrap="square" lIns="0" tIns="0" rIns="0" bIns="0" rtlCol="0" anchor="ctr"/>
          <a:lstStyle/>
          <a:p>
            <a:pPr indent="0" marL="0">
              <a:buNone/>
            </a:pPr>
            <a:r>
              <a:rPr lang="en-US" sz="1000" spc="180" kern="0" dirty="0">
                <a:solidFill>
                  <a:srgbClr val="E86A33"/>
                </a:solidFill>
                <a:latin typeface="Calibri" pitchFamily="34" charset="0"/>
                <a:ea typeface="Calibri" pitchFamily="34" charset="-122"/>
                <a:cs typeface="Calibri" pitchFamily="34" charset="-120"/>
              </a:rPr>
              <a:t>STILL OPEN, HONESTLY</a:t>
            </a:r>
            <a:endParaRPr lang="en-US" sz="1000" dirty="0"/>
          </a:p>
        </p:txBody>
      </p:sp>
      <p:sp>
        <p:nvSpPr>
          <p:cNvPr id="10" name="Shape 8"/>
          <p:cNvSpPr/>
          <p:nvPr/>
        </p:nvSpPr>
        <p:spPr>
          <a:xfrm>
            <a:off x="6263640" y="2194560"/>
            <a:ext cx="5394960" cy="2542032"/>
          </a:xfrm>
          <a:prstGeom prst="roundRect">
            <a:avLst>
              <a:gd name="adj" fmla="val 1799"/>
            </a:avLst>
          </a:prstGeom>
          <a:solidFill>
            <a:srgbClr val="171C24"/>
          </a:solidFill>
          <a:ln w="12700">
            <a:solidFill>
              <a:srgbClr val="2A323D"/>
            </a:solidFill>
            <a:prstDash val="solid"/>
          </a:ln>
        </p:spPr>
      </p:sp>
      <p:sp>
        <p:nvSpPr>
          <p:cNvPr id="11" name="Text 9"/>
          <p:cNvSpPr/>
          <p:nvPr/>
        </p:nvSpPr>
        <p:spPr>
          <a:xfrm>
            <a:off x="6501384" y="2340864"/>
            <a:ext cx="4937760" cy="2514600"/>
          </a:xfrm>
          <a:prstGeom prst="rect">
            <a:avLst/>
          </a:prstGeom>
          <a:noFill/>
          <a:ln/>
        </p:spPr>
        <p:txBody>
          <a:bodyPr wrap="square" lIns="0" tIns="0" rIns="0" bIns="0" rtlCol="0" anchor="ctr"/>
          <a:lstStyle/>
          <a:p>
            <a:pPr marL="342900" indent="-342900">
              <a:lnSpc>
                <a:spcPts val="1450"/>
              </a:lnSpc>
              <a:spcAft>
                <a:spcPts val="700"/>
              </a:spcAft>
              <a:buSzPct val="100000"/>
              <a:buChar char="•"/>
            </a:pPr>
            <a:r>
              <a:rPr lang="en-US" sz="1050" dirty="0">
                <a:solidFill>
                  <a:srgbClr val="8B98A8"/>
                </a:solidFill>
                <a:latin typeface="Calibri" pitchFamily="34" charset="0"/>
                <a:ea typeface="Calibri" pitchFamily="34" charset="-122"/>
                <a:cs typeface="Calibri" pitchFamily="34" charset="-120"/>
              </a:rPr>
              <a:t>The gateway hop is 60% of throughput and no tuning change fixes it. Removing it for reads means either verifying tokens in both services — giving up the single trust boundary — or caching at the gateway, which reintroduces the staleness the version counter exists to prevent.</a:t>
            </a:r>
            <a:endParaRPr lang="en-US" sz="1050" dirty="0"/>
          </a:p>
          <a:p>
            <a:pPr marL="342900" indent="-342900">
              <a:lnSpc>
                <a:spcPts val="1450"/>
              </a:lnSpc>
              <a:spcAft>
                <a:spcPts val="700"/>
              </a:spcAft>
              <a:buSzPct val="100000"/>
              <a:buChar char="•"/>
            </a:pPr>
            <a:r>
              <a:rPr lang="en-US" sz="1050" dirty="0">
                <a:solidFill>
                  <a:srgbClr val="8B98A8"/>
                </a:solidFill>
                <a:latin typeface="Calibri" pitchFamily="34" charset="0"/>
                <a:ea typeface="Calibri" pitchFamily="34" charset="-122"/>
                <a:cs typeface="Calibri" pitchFamily="34" charset="-120"/>
              </a:rPr>
              <a:t>Throttle and idempotency state is per-process — the same flaw the profile store had. Five replicas means five counters and a limit five times what it says.</a:t>
            </a:r>
            <a:endParaRPr lang="en-US" sz="1050" dirty="0"/>
          </a:p>
          <a:p>
            <a:pPr marL="342900" indent="-342900">
              <a:lnSpc>
                <a:spcPts val="1450"/>
              </a:lnSpc>
              <a:spcAft>
                <a:spcPts val="700"/>
              </a:spcAft>
              <a:buSzPct val="100000"/>
              <a:buChar char="•"/>
            </a:pPr>
            <a:r>
              <a:rPr lang="en-US" sz="1050" dirty="0">
                <a:solidFill>
                  <a:srgbClr val="8B98A8"/>
                </a:solidFill>
                <a:latin typeface="Calibri" pitchFamily="34" charset="0"/>
                <a:ea typeface="Calibri" pitchFamily="34" charset="-122"/>
                <a:cs typeface="Calibri" pitchFamily="34" charset="-120"/>
              </a:rPr>
              <a:t>One SQLite connection behind a mutex — right for :memory:, needs a pool otherwise.</a:t>
            </a:r>
            <a:endParaRPr lang="en-US" sz="1050" dirty="0"/>
          </a:p>
          <a:p>
            <a:pPr marL="342900" indent="-342900">
              <a:lnSpc>
                <a:spcPts val="1450"/>
              </a:lnSpc>
              <a:spcAft>
                <a:spcPts val="700"/>
              </a:spcAft>
              <a:buSzPct val="100000"/>
              <a:buChar char="•"/>
            </a:pPr>
            <a:r>
              <a:rPr lang="en-US" sz="1050" dirty="0">
                <a:solidFill>
                  <a:srgbClr val="8B98A8"/>
                </a:solidFill>
                <a:latin typeface="Calibri" pitchFamily="34" charset="0"/>
                <a:ea typeface="Calibri" pitchFamily="34" charset="-122"/>
                <a:cs typeface="Calibri" pitchFamily="34" charset="-120"/>
              </a:rPr>
              <a:t>No metrics — spans correlate, but nothing alerts on throttle trips or 412 rate.</a:t>
            </a:r>
            <a:endParaRPr lang="en-US" sz="1050" dirty="0"/>
          </a:p>
        </p:txBody>
      </p:sp>
      <p:sp>
        <p:nvSpPr>
          <p:cNvPr id="12" name="Shape 10"/>
          <p:cNvSpPr/>
          <p:nvPr/>
        </p:nvSpPr>
        <p:spPr>
          <a:xfrm>
            <a:off x="502920" y="4983480"/>
            <a:ext cx="11155680" cy="1005840"/>
          </a:xfrm>
          <a:prstGeom prst="roundRect">
            <a:avLst>
              <a:gd name="adj" fmla="val 4545"/>
            </a:avLst>
          </a:prstGeom>
          <a:solidFill>
            <a:srgbClr val="171C24"/>
          </a:solidFill>
          <a:ln w="12700">
            <a:solidFill>
              <a:srgbClr val="2A323D"/>
            </a:solidFill>
            <a:prstDash val="solid"/>
          </a:ln>
        </p:spPr>
      </p:sp>
      <p:sp>
        <p:nvSpPr>
          <p:cNvPr id="13" name="Text 11"/>
          <p:cNvSpPr/>
          <p:nvPr/>
        </p:nvSpPr>
        <p:spPr>
          <a:xfrm>
            <a:off x="758952" y="5129784"/>
            <a:ext cx="10607040" cy="731520"/>
          </a:xfrm>
          <a:prstGeom prst="rect">
            <a:avLst/>
          </a:prstGeom>
          <a:noFill/>
          <a:ln/>
        </p:spPr>
        <p:txBody>
          <a:bodyPr wrap="square" lIns="0" tIns="0" rIns="0" bIns="0" rtlCol="0" anchor="ctr"/>
          <a:lstStyle/>
          <a:p>
            <a:pPr indent="0" marL="0">
              <a:lnSpc>
                <a:spcPts val="1650"/>
              </a:lnSpc>
              <a:buNone/>
            </a:pPr>
            <a:r>
              <a:rPr lang="en-US" sz="1200" b="1" dirty="0">
                <a:solidFill>
                  <a:srgbClr val="E86A33"/>
                </a:solidFill>
                <a:latin typeface="Calibri" pitchFamily="34" charset="0"/>
                <a:ea typeface="Calibri" pitchFamily="34" charset="-122"/>
                <a:cs typeface="Calibri" pitchFamily="34" charset="-120"/>
              </a:rPr>
              <a:t>A caveat worth saying out loud.  </a:t>
            </a:r>
            <a:pPr indent="0" marL="0">
              <a:lnSpc>
                <a:spcPts val="1650"/>
              </a:lnSpc>
              <a:buNone/>
            </a:pPr>
            <a:r>
              <a:rPr lang="en-US" sz="1200" dirty="0">
                <a:solidFill>
                  <a:srgbClr val="8B98A8"/>
                </a:solidFill>
                <a:latin typeface="Calibri" pitchFamily="34" charset="0"/>
                <a:ea typeface="Calibri" pitchFamily="34" charset="-122"/>
                <a:cs typeface="Calibri" pitchFamily="34" charset="-120"/>
              </a:rPr>
              <a:t>This is past a three-hour timebox. The in-memory backend alone satisfies the brief. I kept the rest because per-process versioning is the design’s real limit, and I wanted to show it wasn’t load-bearing.</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Knova — lost updates and enumeration oracles</dc:title>
  <dc:subject>PptxGenJS Presentation</dc:subject>
  <dc:creator>0xSoftBoi</dc:creator>
  <cp:lastModifiedBy>0xSoftBoi</cp:lastModifiedBy>
  <cp:revision>1</cp:revision>
  <dcterms:created xsi:type="dcterms:W3CDTF">2026-08-24T18:03:29Z</dcterms:created>
  <dcterms:modified xsi:type="dcterms:W3CDTF">2026-08-24T18:03:29Z</dcterms:modified>
</cp:coreProperties>
</file>